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61" r:id="rId3"/>
    <p:sldId id="262" r:id="rId4"/>
    <p:sldId id="280" r:id="rId5"/>
    <p:sldId id="279" r:id="rId6"/>
    <p:sldId id="277" r:id="rId7"/>
    <p:sldId id="281" r:id="rId8"/>
    <p:sldId id="274" r:id="rId9"/>
    <p:sldId id="273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FF"/>
    <a:srgbClr val="6666FF"/>
    <a:srgbClr val="66CCFF"/>
    <a:srgbClr val="00FFFF"/>
    <a:srgbClr val="9966FF"/>
    <a:srgbClr val="0099FF"/>
    <a:srgbClr val="3366FF"/>
    <a:srgbClr val="FFFF99"/>
    <a:srgbClr val="CCFF99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3064" autoAdjust="0"/>
  </p:normalViewPr>
  <p:slideViewPr>
    <p:cSldViewPr snapToGrid="0">
      <p:cViewPr>
        <p:scale>
          <a:sx n="50" d="100"/>
          <a:sy n="50" d="100"/>
        </p:scale>
        <p:origin x="3540" y="13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6C7D26-5545-475E-8E1F-234BF5514714}" type="datetimeFigureOut">
              <a:rPr lang="en-PH" smtClean="0"/>
              <a:t>01/09/2024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00A3C-C725-46F5-AC19-ED0F2469529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45838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B00F8-08C6-AF9B-1EDA-0C0658765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BBA46-3F4E-211F-B61D-901AB94B99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EAC5F-1A2F-04D2-2779-4ED304FBD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6F11E-9B03-4203-8D63-EA6AC7297B19}" type="datetimeFigureOut">
              <a:rPr lang="en-PH" smtClean="0"/>
              <a:t>01/09/2024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A0068-F603-9D3D-A9EF-2E57A0620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79F88-1EE4-B453-726C-3A24BB2E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8BC1-ED0C-4651-9503-259B7EFAB15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2964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3E112-F3FA-ED3B-91E1-849832F96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EA49A-7147-4ECB-80A1-D24C3662E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AD069-04E5-329A-EC9A-A397EA0A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6F11E-9B03-4203-8D63-EA6AC7297B19}" type="datetimeFigureOut">
              <a:rPr lang="en-PH" smtClean="0"/>
              <a:t>01/09/2024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91431-2D1D-F0A4-FEDF-D6DB8A811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D455C-6E3E-940B-DE02-F851875BC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8BC1-ED0C-4651-9503-259B7EFAB15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58499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765D6-D057-DA29-30DC-CEC788AE9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22E0D-4486-CEF7-A5D3-687F13D5F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8F6AD-A77C-E50B-4533-F28265112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6F11E-9B03-4203-8D63-EA6AC7297B19}" type="datetimeFigureOut">
              <a:rPr lang="en-PH" smtClean="0"/>
              <a:t>01/09/2024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2DB7B-C0FA-F870-8F4A-7EFFDE16C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AFB91-15C7-2C37-8C75-050D24BB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8BC1-ED0C-4651-9503-259B7EFAB15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56661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14A95-90A6-B343-95B0-A8DE79604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BB356-D7F3-FE33-B558-36D0EDBCB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4C983-B121-35DD-5082-DB22B71CA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D4FC6-53D4-FC4C-119C-4E43226E1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6F11E-9B03-4203-8D63-EA6AC7297B19}" type="datetimeFigureOut">
              <a:rPr lang="en-PH" smtClean="0"/>
              <a:t>01/09/2024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CC72D-5EE8-65CF-3D10-9AF81DC04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09221-7096-355A-3DCA-BF6AE1D4E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8BC1-ED0C-4651-9503-259B7EFAB15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44376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EAF64-119F-2C14-3C04-E9503DF4B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3DF75-983A-83CD-1C5A-A51948011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71C1D-79AD-D5DD-5590-BBB165672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7F07DE-8816-8FF1-F143-CC83021C4F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87559E-1338-19FC-1F16-C54916C9E8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79BA46-B6DF-3FB0-25FE-D035C8B56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6F11E-9B03-4203-8D63-EA6AC7297B19}" type="datetimeFigureOut">
              <a:rPr lang="en-PH" smtClean="0"/>
              <a:t>01/09/2024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F4799E-4798-C3BE-86D0-0B4CB334C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F11282-E89F-7433-2DC7-9ABCE5B21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8BC1-ED0C-4651-9503-259B7EFAB15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0059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4700-1627-31AF-0782-CBC20D677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FFB6F8-B8C4-5E72-7D1E-B6F6D429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6F11E-9B03-4203-8D63-EA6AC7297B19}" type="datetimeFigureOut">
              <a:rPr lang="en-PH" smtClean="0"/>
              <a:t>01/09/2024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6F3E01-8117-ECD2-51C9-E1D6B98C3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BF964-1540-9744-4535-6830798D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8BC1-ED0C-4651-9503-259B7EFAB15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16118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91E0D2-6900-AF85-8396-75F142379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6F11E-9B03-4203-8D63-EA6AC7297B19}" type="datetimeFigureOut">
              <a:rPr lang="en-PH" smtClean="0"/>
              <a:t>01/09/2024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F1D747-E1DE-1677-D9C6-18B31440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B7011-9F17-4CE9-86A4-599AC363A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8BC1-ED0C-4651-9503-259B7EFAB15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3795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030E3-BEA5-A4DE-97EE-E9F36C713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76D57-F495-27FA-792D-B4222F50D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7F209-2309-DD4E-EE09-91C11E40D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127C62-6AAE-E65A-91C3-3AF8E5350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6F11E-9B03-4203-8D63-EA6AC7297B19}" type="datetimeFigureOut">
              <a:rPr lang="en-PH" smtClean="0"/>
              <a:t>01/09/2024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83A57-20BC-F5ED-DE2E-26BDAFDB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C3380A-3A08-5A4B-8AE4-52540AFAF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8BC1-ED0C-4651-9503-259B7EFAB15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26088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B1FE0-86C5-7350-8B32-9216331FB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4919F5-D509-AC34-3576-12270EB9C5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B7A1D-DE4D-9C6B-FE57-AC33E42A8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049EE-D020-646F-3DC5-28E2FE34D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6F11E-9B03-4203-8D63-EA6AC7297B19}" type="datetimeFigureOut">
              <a:rPr lang="en-PH" smtClean="0"/>
              <a:t>01/09/2024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EE8774-7783-0365-60F6-F4AFCAE8D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18E89-2376-2252-3804-0D16B1E82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8BC1-ED0C-4651-9503-259B7EFAB15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19004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71351-246B-AF9B-B65C-02C7140A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3DFC93-92A2-9C35-4017-5F2676AC1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651B9-AB12-E2A4-8E2A-485A3CD07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6F11E-9B03-4203-8D63-EA6AC7297B19}" type="datetimeFigureOut">
              <a:rPr lang="en-PH" smtClean="0"/>
              <a:t>01/09/2024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EF1CE-9805-C046-26C2-85C1659B0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DC7CD-01F7-6380-7900-66D8353E7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8BC1-ED0C-4651-9503-259B7EFAB15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8722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4D9B0A-C92F-90CA-9BDA-99DA9A6A75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9D2568-EFB6-E4C3-12CA-B47A55DBF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EFE0F-385A-6DC4-FCF6-1436C86CA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6F11E-9B03-4203-8D63-EA6AC7297B19}" type="datetimeFigureOut">
              <a:rPr lang="en-PH" smtClean="0"/>
              <a:t>01/09/2024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22B5A-542D-2BFD-8831-983D6515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C1843-E13C-6463-C520-7D93B958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8BC1-ED0C-4651-9503-259B7EFAB15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53004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CF8DC1-A017-FD45-B725-25813FC4D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8C5D8-A4F2-8565-C977-1AA4AC213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6E6B6-8898-71DD-34F8-ACA33FB0B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56F11E-9B03-4203-8D63-EA6AC7297B19}" type="datetimeFigureOut">
              <a:rPr lang="en-PH" smtClean="0"/>
              <a:t>01/09/2024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9BE14-F3B4-C4C5-1AED-BDBE6AB8BA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7C3CB-00B3-3837-EEE5-E5D36BA5A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18BC1-ED0C-4651-9503-259B7EFAB15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4006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B1593C6-D594-1512-58D9-D2A32892EB00}"/>
              </a:ext>
            </a:extLst>
          </p:cNvPr>
          <p:cNvGrpSpPr/>
          <p:nvPr/>
        </p:nvGrpSpPr>
        <p:grpSpPr>
          <a:xfrm>
            <a:off x="-2" y="-133350"/>
            <a:ext cx="37046977" cy="7124700"/>
            <a:chOff x="-2" y="-133350"/>
            <a:chExt cx="37046977" cy="7124700"/>
          </a:xfrm>
        </p:grpSpPr>
        <p:pic>
          <p:nvPicPr>
            <p:cNvPr id="4" name="Picture 3" descr="Flexibility Training: Finding Your Best Range of Motion | ISSA">
              <a:extLst>
                <a:ext uri="{FF2B5EF4-FFF2-40B4-BE49-F238E27FC236}">
                  <a16:creationId xmlns:a16="http://schemas.microsoft.com/office/drawing/2014/main" id="{ADA82564-5310-4C7C-AF04-59BF1A1D35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950"/>
            <a:stretch/>
          </p:blipFill>
          <p:spPr bwMode="auto">
            <a:xfrm>
              <a:off x="-2" y="0"/>
              <a:ext cx="12192002" cy="6858000"/>
            </a:xfrm>
            <a:custGeom>
              <a:avLst/>
              <a:gdLst>
                <a:gd name="connsiteX0" fmla="*/ 12192001 w 12192002"/>
                <a:gd name="connsiteY0" fmla="*/ 152400 h 6858000"/>
                <a:gd name="connsiteX1" fmla="*/ 12192002 w 12192002"/>
                <a:gd name="connsiteY1" fmla="*/ 152400 h 6858000"/>
                <a:gd name="connsiteX2" fmla="*/ 12192002 w 12192002"/>
                <a:gd name="connsiteY2" fmla="*/ 3581400 h 6858000"/>
                <a:gd name="connsiteX3" fmla="*/ 12192001 w 12192002"/>
                <a:gd name="connsiteY3" fmla="*/ 3581400 h 6858000"/>
                <a:gd name="connsiteX4" fmla="*/ 0 w 12192002"/>
                <a:gd name="connsiteY4" fmla="*/ 0 h 6858000"/>
                <a:gd name="connsiteX5" fmla="*/ 12192001 w 12192002"/>
                <a:gd name="connsiteY5" fmla="*/ 0 h 6858000"/>
                <a:gd name="connsiteX6" fmla="*/ 12192001 w 12192002"/>
                <a:gd name="connsiteY6" fmla="*/ 152400 h 6858000"/>
                <a:gd name="connsiteX7" fmla="*/ 5067303 w 12192002"/>
                <a:gd name="connsiteY7" fmla="*/ 152400 h 6858000"/>
                <a:gd name="connsiteX8" fmla="*/ 5067303 w 12192002"/>
                <a:gd name="connsiteY8" fmla="*/ 3581400 h 6858000"/>
                <a:gd name="connsiteX9" fmla="*/ 12192001 w 12192002"/>
                <a:gd name="connsiteY9" fmla="*/ 3581400 h 6858000"/>
                <a:gd name="connsiteX10" fmla="*/ 12192001 w 12192002"/>
                <a:gd name="connsiteY10" fmla="*/ 6858000 h 6858000"/>
                <a:gd name="connsiteX11" fmla="*/ 0 w 12192002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2" h="6858000">
                  <a:moveTo>
                    <a:pt x="12192001" y="152400"/>
                  </a:moveTo>
                  <a:lnTo>
                    <a:pt x="12192002" y="152400"/>
                  </a:lnTo>
                  <a:lnTo>
                    <a:pt x="12192002" y="3581400"/>
                  </a:lnTo>
                  <a:lnTo>
                    <a:pt x="12192001" y="3581400"/>
                  </a:lnTo>
                  <a:close/>
                  <a:moveTo>
                    <a:pt x="0" y="0"/>
                  </a:moveTo>
                  <a:lnTo>
                    <a:pt x="12192001" y="0"/>
                  </a:lnTo>
                  <a:lnTo>
                    <a:pt x="12192001" y="152400"/>
                  </a:lnTo>
                  <a:lnTo>
                    <a:pt x="5067303" y="152400"/>
                  </a:lnTo>
                  <a:lnTo>
                    <a:pt x="5067303" y="3581400"/>
                  </a:lnTo>
                  <a:lnTo>
                    <a:pt x="12192001" y="3581400"/>
                  </a:lnTo>
                  <a:lnTo>
                    <a:pt x="12192001" y="6858000"/>
                  </a:lnTo>
                  <a:lnTo>
                    <a:pt x="0" y="6858000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32D49F7-FCDC-96C9-A74B-7D88982F8E60}"/>
                </a:ext>
              </a:extLst>
            </p:cNvPr>
            <p:cNvGrpSpPr/>
            <p:nvPr/>
          </p:nvGrpSpPr>
          <p:grpSpPr>
            <a:xfrm>
              <a:off x="8334375" y="-133350"/>
              <a:ext cx="28712600" cy="7124700"/>
              <a:chOff x="-85725" y="-133350"/>
              <a:chExt cx="28712600" cy="7124700"/>
            </a:xfrm>
          </p:grpSpPr>
          <p:pic>
            <p:nvPicPr>
              <p:cNvPr id="1028" name="Picture 4" descr="STABILITY AND MOBILITY">
                <a:extLst>
                  <a:ext uri="{FF2B5EF4-FFF2-40B4-BE49-F238E27FC236}">
                    <a16:creationId xmlns:a16="http://schemas.microsoft.com/office/drawing/2014/main" id="{B0E88C80-7283-1898-C77A-E27366D492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952525" y="-133350"/>
                <a:ext cx="10674350" cy="710745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D94C6BB-C8D3-0B4C-9329-370BD75C4C60}"/>
                  </a:ext>
                </a:extLst>
              </p:cNvPr>
              <p:cNvSpPr/>
              <p:nvPr/>
            </p:nvSpPr>
            <p:spPr>
              <a:xfrm>
                <a:off x="-85725" y="-133350"/>
                <a:ext cx="19046826" cy="71247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4E54EE-2E2C-CD6D-5A09-E574961BFE10}"/>
                  </a:ext>
                </a:extLst>
              </p:cNvPr>
              <p:cNvSpPr txBox="1"/>
              <p:nvPr/>
            </p:nvSpPr>
            <p:spPr>
              <a:xfrm>
                <a:off x="390525" y="788889"/>
                <a:ext cx="3086100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800" b="1" i="0" u="none" strike="noStrike" dirty="0">
                    <a:solidFill>
                      <a:schemeClr val="bg1"/>
                    </a:solidFill>
                    <a:effectLst/>
                    <a:latin typeface="Bahnschrift Light Condensed" panose="020B0502040204020203" pitchFamily="34" charset="0"/>
                  </a:rPr>
                  <a:t>Chapter 3: Mobility Training and Assessment of Movement Competency</a:t>
                </a:r>
              </a:p>
              <a:p>
                <a:pPr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PH" sz="4800" b="1" dirty="0">
                    <a:solidFill>
                      <a:schemeClr val="bg1"/>
                    </a:solidFill>
                    <a:latin typeface="Bahnschrift Light Condensed" panose="020B0502040204020203" pitchFamily="34" charset="0"/>
                  </a:rPr>
                  <a:t>WEEK 8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132DF47-80AE-9600-5845-935DCA4D3A9E}"/>
                  </a:ext>
                </a:extLst>
              </p:cNvPr>
              <p:cNvSpPr txBox="1"/>
              <p:nvPr/>
            </p:nvSpPr>
            <p:spPr>
              <a:xfrm>
                <a:off x="4365215" y="1283184"/>
                <a:ext cx="7439025" cy="4308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200" b="1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Introduction to Movement Competency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32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 Movement competency refers to the ability to perform fundamental movements with proper technique.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-US" sz="3200" dirty="0">
                  <a:solidFill>
                    <a:schemeClr val="bg1"/>
                  </a:solidFill>
                  <a:latin typeface="Bahnschrift Light SemiCondensed" panose="020B0502040204020203" pitchFamily="34" charset="0"/>
                </a:endParaRP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200" b="1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Importance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32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 Critical for fitness activities, reducing injury risks, and enhancing performance.</a:t>
                </a:r>
                <a:br>
                  <a:rPr lang="en-US" dirty="0">
                    <a:solidFill>
                      <a:schemeClr val="bg1"/>
                    </a:solidFill>
                  </a:rPr>
                </a:br>
                <a:endParaRPr lang="en-PH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AB9C34-8984-574E-B68A-0DE2181A0E85}"/>
                  </a:ext>
                </a:extLst>
              </p:cNvPr>
              <p:cNvSpPr txBox="1"/>
              <p:nvPr/>
            </p:nvSpPr>
            <p:spPr>
              <a:xfrm>
                <a:off x="12188877" y="582066"/>
                <a:ext cx="6442024" cy="5693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b="1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Understanding Mobility and Stability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u="sng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Mobility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The ability of a joint to move through its full range of motion.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	Examples of Mobile Joints: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	Ankle: Moves in the sagittal plane.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	Hip: Moves in multiple planes (flexion, 	extension, rotation).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u="sng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Stability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The ability of muscles and connective tissues to control joint movement.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	Example: Core stability during a 	plank 	exercise.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68599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B1593C6-D594-1512-58D9-D2A32892EB00}"/>
              </a:ext>
            </a:extLst>
          </p:cNvPr>
          <p:cNvGrpSpPr/>
          <p:nvPr/>
        </p:nvGrpSpPr>
        <p:grpSpPr>
          <a:xfrm>
            <a:off x="-8345716" y="-133350"/>
            <a:ext cx="37046977" cy="7124700"/>
            <a:chOff x="-2" y="-133350"/>
            <a:chExt cx="37046977" cy="7124700"/>
          </a:xfrm>
        </p:grpSpPr>
        <p:pic>
          <p:nvPicPr>
            <p:cNvPr id="4" name="Picture 3" descr="Flexibility Training: Finding Your Best Range of Motion | ISSA">
              <a:extLst>
                <a:ext uri="{FF2B5EF4-FFF2-40B4-BE49-F238E27FC236}">
                  <a16:creationId xmlns:a16="http://schemas.microsoft.com/office/drawing/2014/main" id="{ADA82564-5310-4C7C-AF04-59BF1A1D35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950"/>
            <a:stretch/>
          </p:blipFill>
          <p:spPr bwMode="auto">
            <a:xfrm>
              <a:off x="-2" y="0"/>
              <a:ext cx="12192002" cy="6858000"/>
            </a:xfrm>
            <a:custGeom>
              <a:avLst/>
              <a:gdLst>
                <a:gd name="connsiteX0" fmla="*/ 12192001 w 12192002"/>
                <a:gd name="connsiteY0" fmla="*/ 152400 h 6858000"/>
                <a:gd name="connsiteX1" fmla="*/ 12192002 w 12192002"/>
                <a:gd name="connsiteY1" fmla="*/ 152400 h 6858000"/>
                <a:gd name="connsiteX2" fmla="*/ 12192002 w 12192002"/>
                <a:gd name="connsiteY2" fmla="*/ 3581400 h 6858000"/>
                <a:gd name="connsiteX3" fmla="*/ 12192001 w 12192002"/>
                <a:gd name="connsiteY3" fmla="*/ 3581400 h 6858000"/>
                <a:gd name="connsiteX4" fmla="*/ 0 w 12192002"/>
                <a:gd name="connsiteY4" fmla="*/ 0 h 6858000"/>
                <a:gd name="connsiteX5" fmla="*/ 12192001 w 12192002"/>
                <a:gd name="connsiteY5" fmla="*/ 0 h 6858000"/>
                <a:gd name="connsiteX6" fmla="*/ 12192001 w 12192002"/>
                <a:gd name="connsiteY6" fmla="*/ 152400 h 6858000"/>
                <a:gd name="connsiteX7" fmla="*/ 5067303 w 12192002"/>
                <a:gd name="connsiteY7" fmla="*/ 152400 h 6858000"/>
                <a:gd name="connsiteX8" fmla="*/ 5067303 w 12192002"/>
                <a:gd name="connsiteY8" fmla="*/ 3581400 h 6858000"/>
                <a:gd name="connsiteX9" fmla="*/ 12192001 w 12192002"/>
                <a:gd name="connsiteY9" fmla="*/ 3581400 h 6858000"/>
                <a:gd name="connsiteX10" fmla="*/ 12192001 w 12192002"/>
                <a:gd name="connsiteY10" fmla="*/ 6858000 h 6858000"/>
                <a:gd name="connsiteX11" fmla="*/ 0 w 12192002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2" h="6858000">
                  <a:moveTo>
                    <a:pt x="12192001" y="152400"/>
                  </a:moveTo>
                  <a:lnTo>
                    <a:pt x="12192002" y="152400"/>
                  </a:lnTo>
                  <a:lnTo>
                    <a:pt x="12192002" y="3581400"/>
                  </a:lnTo>
                  <a:lnTo>
                    <a:pt x="12192001" y="3581400"/>
                  </a:lnTo>
                  <a:close/>
                  <a:moveTo>
                    <a:pt x="0" y="0"/>
                  </a:moveTo>
                  <a:lnTo>
                    <a:pt x="12192001" y="0"/>
                  </a:lnTo>
                  <a:lnTo>
                    <a:pt x="12192001" y="152400"/>
                  </a:lnTo>
                  <a:lnTo>
                    <a:pt x="5067303" y="152400"/>
                  </a:lnTo>
                  <a:lnTo>
                    <a:pt x="5067303" y="3581400"/>
                  </a:lnTo>
                  <a:lnTo>
                    <a:pt x="12192001" y="3581400"/>
                  </a:lnTo>
                  <a:lnTo>
                    <a:pt x="12192001" y="6858000"/>
                  </a:lnTo>
                  <a:lnTo>
                    <a:pt x="0" y="6858000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32D49F7-FCDC-96C9-A74B-7D88982F8E60}"/>
                </a:ext>
              </a:extLst>
            </p:cNvPr>
            <p:cNvGrpSpPr/>
            <p:nvPr/>
          </p:nvGrpSpPr>
          <p:grpSpPr>
            <a:xfrm>
              <a:off x="8334375" y="-133350"/>
              <a:ext cx="28712600" cy="7124700"/>
              <a:chOff x="-85725" y="-133350"/>
              <a:chExt cx="28712600" cy="7124700"/>
            </a:xfrm>
          </p:grpSpPr>
          <p:pic>
            <p:nvPicPr>
              <p:cNvPr id="1028" name="Picture 4" descr="STABILITY AND MOBILITY">
                <a:extLst>
                  <a:ext uri="{FF2B5EF4-FFF2-40B4-BE49-F238E27FC236}">
                    <a16:creationId xmlns:a16="http://schemas.microsoft.com/office/drawing/2014/main" id="{B0E88C80-7283-1898-C77A-E27366D492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952525" y="-133350"/>
                <a:ext cx="10674350" cy="710745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D94C6BB-C8D3-0B4C-9329-370BD75C4C60}"/>
                  </a:ext>
                </a:extLst>
              </p:cNvPr>
              <p:cNvSpPr/>
              <p:nvPr/>
            </p:nvSpPr>
            <p:spPr>
              <a:xfrm>
                <a:off x="-85725" y="-133350"/>
                <a:ext cx="19046826" cy="71247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4E54EE-2E2C-CD6D-5A09-E574961BFE10}"/>
                  </a:ext>
                </a:extLst>
              </p:cNvPr>
              <p:cNvSpPr txBox="1"/>
              <p:nvPr/>
            </p:nvSpPr>
            <p:spPr>
              <a:xfrm>
                <a:off x="390525" y="788889"/>
                <a:ext cx="3086100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800" b="1" i="0" u="none" strike="noStrike" dirty="0">
                    <a:solidFill>
                      <a:schemeClr val="bg1"/>
                    </a:solidFill>
                    <a:effectLst/>
                    <a:latin typeface="Bahnschrift Light Condensed" panose="020B0502040204020203" pitchFamily="34" charset="0"/>
                  </a:rPr>
                  <a:t>Chapter 3: Mobility Training and Assessment of Movement Competency</a:t>
                </a:r>
              </a:p>
              <a:p>
                <a:pPr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PH" sz="4800" b="1" dirty="0">
                    <a:solidFill>
                      <a:schemeClr val="bg1"/>
                    </a:solidFill>
                    <a:latin typeface="Bahnschrift Light Condensed" panose="020B0502040204020203" pitchFamily="34" charset="0"/>
                  </a:rPr>
                  <a:t>WEEK 8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132DF47-80AE-9600-5845-935DCA4D3A9E}"/>
                  </a:ext>
                </a:extLst>
              </p:cNvPr>
              <p:cNvSpPr txBox="1"/>
              <p:nvPr/>
            </p:nvSpPr>
            <p:spPr>
              <a:xfrm>
                <a:off x="4365215" y="1283184"/>
                <a:ext cx="7439025" cy="4308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200" b="1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Introduction to Movement Competency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32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 Movement competency refers to the ability to perform fundamental movements with proper technique.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-US" sz="3200" dirty="0">
                  <a:solidFill>
                    <a:schemeClr val="bg1"/>
                  </a:solidFill>
                  <a:latin typeface="Bahnschrift Light SemiCondensed" panose="020B0502040204020203" pitchFamily="34" charset="0"/>
                </a:endParaRP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200" b="1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Importance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32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 Critical for fitness activities, reducing injury risks, and enhancing performance.</a:t>
                </a:r>
                <a:br>
                  <a:rPr lang="en-US" dirty="0">
                    <a:solidFill>
                      <a:schemeClr val="bg1"/>
                    </a:solidFill>
                  </a:rPr>
                </a:br>
                <a:endParaRPr lang="en-PH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AB9C34-8984-574E-B68A-0DE2181A0E85}"/>
                  </a:ext>
                </a:extLst>
              </p:cNvPr>
              <p:cNvSpPr txBox="1"/>
              <p:nvPr/>
            </p:nvSpPr>
            <p:spPr>
              <a:xfrm>
                <a:off x="12188877" y="582066"/>
                <a:ext cx="6442024" cy="5693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b="1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Understanding Mobility and Stability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u="sng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Mobility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The ability of a joint to move through its full range of motion.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	Examples of Mobile Joints: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	Ankle: Moves in the sagittal plane.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	Hip: Moves in multiple planes (flexion, 	extension, rotation).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u="sng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Stability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The ability of muscles and connective tissues to control joint movement.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	Example: Core stability during a 	plank 	exercise.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42720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B1593C6-D594-1512-58D9-D2A32892EB00}"/>
              </a:ext>
            </a:extLst>
          </p:cNvPr>
          <p:cNvGrpSpPr/>
          <p:nvPr/>
        </p:nvGrpSpPr>
        <p:grpSpPr>
          <a:xfrm>
            <a:off x="-20203887" y="-133350"/>
            <a:ext cx="37046977" cy="7124700"/>
            <a:chOff x="-2" y="-133350"/>
            <a:chExt cx="37046977" cy="7124700"/>
          </a:xfrm>
        </p:grpSpPr>
        <p:pic>
          <p:nvPicPr>
            <p:cNvPr id="4" name="Picture 3" descr="Flexibility Training: Finding Your Best Range of Motion | ISSA">
              <a:extLst>
                <a:ext uri="{FF2B5EF4-FFF2-40B4-BE49-F238E27FC236}">
                  <a16:creationId xmlns:a16="http://schemas.microsoft.com/office/drawing/2014/main" id="{ADA82564-5310-4C7C-AF04-59BF1A1D35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950"/>
            <a:stretch/>
          </p:blipFill>
          <p:spPr bwMode="auto">
            <a:xfrm>
              <a:off x="-2" y="0"/>
              <a:ext cx="12192002" cy="6858000"/>
            </a:xfrm>
            <a:custGeom>
              <a:avLst/>
              <a:gdLst>
                <a:gd name="connsiteX0" fmla="*/ 12192001 w 12192002"/>
                <a:gd name="connsiteY0" fmla="*/ 152400 h 6858000"/>
                <a:gd name="connsiteX1" fmla="*/ 12192002 w 12192002"/>
                <a:gd name="connsiteY1" fmla="*/ 152400 h 6858000"/>
                <a:gd name="connsiteX2" fmla="*/ 12192002 w 12192002"/>
                <a:gd name="connsiteY2" fmla="*/ 3581400 h 6858000"/>
                <a:gd name="connsiteX3" fmla="*/ 12192001 w 12192002"/>
                <a:gd name="connsiteY3" fmla="*/ 3581400 h 6858000"/>
                <a:gd name="connsiteX4" fmla="*/ 0 w 12192002"/>
                <a:gd name="connsiteY4" fmla="*/ 0 h 6858000"/>
                <a:gd name="connsiteX5" fmla="*/ 12192001 w 12192002"/>
                <a:gd name="connsiteY5" fmla="*/ 0 h 6858000"/>
                <a:gd name="connsiteX6" fmla="*/ 12192001 w 12192002"/>
                <a:gd name="connsiteY6" fmla="*/ 152400 h 6858000"/>
                <a:gd name="connsiteX7" fmla="*/ 5067303 w 12192002"/>
                <a:gd name="connsiteY7" fmla="*/ 152400 h 6858000"/>
                <a:gd name="connsiteX8" fmla="*/ 5067303 w 12192002"/>
                <a:gd name="connsiteY8" fmla="*/ 3581400 h 6858000"/>
                <a:gd name="connsiteX9" fmla="*/ 12192001 w 12192002"/>
                <a:gd name="connsiteY9" fmla="*/ 3581400 h 6858000"/>
                <a:gd name="connsiteX10" fmla="*/ 12192001 w 12192002"/>
                <a:gd name="connsiteY10" fmla="*/ 6858000 h 6858000"/>
                <a:gd name="connsiteX11" fmla="*/ 0 w 12192002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2" h="6858000">
                  <a:moveTo>
                    <a:pt x="12192001" y="152400"/>
                  </a:moveTo>
                  <a:lnTo>
                    <a:pt x="12192002" y="152400"/>
                  </a:lnTo>
                  <a:lnTo>
                    <a:pt x="12192002" y="3581400"/>
                  </a:lnTo>
                  <a:lnTo>
                    <a:pt x="12192001" y="3581400"/>
                  </a:lnTo>
                  <a:close/>
                  <a:moveTo>
                    <a:pt x="0" y="0"/>
                  </a:moveTo>
                  <a:lnTo>
                    <a:pt x="12192001" y="0"/>
                  </a:lnTo>
                  <a:lnTo>
                    <a:pt x="12192001" y="152400"/>
                  </a:lnTo>
                  <a:lnTo>
                    <a:pt x="5067303" y="152400"/>
                  </a:lnTo>
                  <a:lnTo>
                    <a:pt x="5067303" y="3581400"/>
                  </a:lnTo>
                  <a:lnTo>
                    <a:pt x="12192001" y="3581400"/>
                  </a:lnTo>
                  <a:lnTo>
                    <a:pt x="12192001" y="6858000"/>
                  </a:lnTo>
                  <a:lnTo>
                    <a:pt x="0" y="6858000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32D49F7-FCDC-96C9-A74B-7D88982F8E60}"/>
                </a:ext>
              </a:extLst>
            </p:cNvPr>
            <p:cNvGrpSpPr/>
            <p:nvPr/>
          </p:nvGrpSpPr>
          <p:grpSpPr>
            <a:xfrm>
              <a:off x="8334375" y="-133350"/>
              <a:ext cx="28712600" cy="7124700"/>
              <a:chOff x="-85725" y="-133350"/>
              <a:chExt cx="28712600" cy="7124700"/>
            </a:xfrm>
          </p:grpSpPr>
          <p:pic>
            <p:nvPicPr>
              <p:cNvPr id="1028" name="Picture 4" descr="STABILITY AND MOBILITY">
                <a:extLst>
                  <a:ext uri="{FF2B5EF4-FFF2-40B4-BE49-F238E27FC236}">
                    <a16:creationId xmlns:a16="http://schemas.microsoft.com/office/drawing/2014/main" id="{B0E88C80-7283-1898-C77A-E27366D492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952525" y="-133350"/>
                <a:ext cx="10674350" cy="710745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D94C6BB-C8D3-0B4C-9329-370BD75C4C60}"/>
                  </a:ext>
                </a:extLst>
              </p:cNvPr>
              <p:cNvSpPr/>
              <p:nvPr/>
            </p:nvSpPr>
            <p:spPr>
              <a:xfrm>
                <a:off x="-85725" y="-133350"/>
                <a:ext cx="19046826" cy="71247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4E54EE-2E2C-CD6D-5A09-E574961BFE10}"/>
                  </a:ext>
                </a:extLst>
              </p:cNvPr>
              <p:cNvSpPr txBox="1"/>
              <p:nvPr/>
            </p:nvSpPr>
            <p:spPr>
              <a:xfrm>
                <a:off x="390525" y="788889"/>
                <a:ext cx="3086100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800" b="1" i="0" u="none" strike="noStrike" dirty="0">
                    <a:solidFill>
                      <a:schemeClr val="bg1"/>
                    </a:solidFill>
                    <a:effectLst/>
                    <a:latin typeface="Bahnschrift Light Condensed" panose="020B0502040204020203" pitchFamily="34" charset="0"/>
                  </a:rPr>
                  <a:t>Chapter 3: Mobility Training and Assessment of Movement Competency</a:t>
                </a:r>
              </a:p>
              <a:p>
                <a:pPr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PH" sz="4800" b="1" dirty="0">
                    <a:solidFill>
                      <a:schemeClr val="bg1"/>
                    </a:solidFill>
                    <a:latin typeface="Bahnschrift Light Condensed" panose="020B0502040204020203" pitchFamily="34" charset="0"/>
                  </a:rPr>
                  <a:t>WEEK 8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132DF47-80AE-9600-5845-935DCA4D3A9E}"/>
                  </a:ext>
                </a:extLst>
              </p:cNvPr>
              <p:cNvSpPr txBox="1"/>
              <p:nvPr/>
            </p:nvSpPr>
            <p:spPr>
              <a:xfrm>
                <a:off x="4365215" y="1283184"/>
                <a:ext cx="7439025" cy="4308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200" b="1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Introduction to Movement Competency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32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 Movement competency refers to the ability to perform fundamental movements with proper technique.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-US" sz="3200" dirty="0">
                  <a:solidFill>
                    <a:schemeClr val="bg1"/>
                  </a:solidFill>
                  <a:latin typeface="Bahnschrift Light SemiCondensed" panose="020B0502040204020203" pitchFamily="34" charset="0"/>
                </a:endParaRP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200" b="1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Importance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32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 Critical for fitness activities, reducing injury risks, and enhancing performance.</a:t>
                </a:r>
                <a:br>
                  <a:rPr lang="en-US" dirty="0">
                    <a:solidFill>
                      <a:schemeClr val="bg1"/>
                    </a:solidFill>
                  </a:rPr>
                </a:br>
                <a:endParaRPr lang="en-PH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AB9C34-8984-574E-B68A-0DE2181A0E85}"/>
                  </a:ext>
                </a:extLst>
              </p:cNvPr>
              <p:cNvSpPr txBox="1"/>
              <p:nvPr/>
            </p:nvSpPr>
            <p:spPr>
              <a:xfrm>
                <a:off x="12188877" y="582066"/>
                <a:ext cx="6442024" cy="5693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b="1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Understanding Mobility and Stability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u="sng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Mobility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The ability of a joint to move through its full range of motion.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	Examples of Mobile Joints: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	Ankle: Moves in the sagittal plane.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	Hip: Moves in multiple planes (flexion, 	extension, rotation).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u="sng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Stability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The ability of muscles and connective tissues to control joint movement.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	Example: Core stability during a 	plank 	exercise.</a:t>
                </a:r>
              </a:p>
            </p:txBody>
          </p:sp>
        </p:grpSp>
      </p:grpSp>
      <p:sp>
        <p:nvSpPr>
          <p:cNvPr id="1029" name="Rectangle: Rounded Corners 1028">
            <a:extLst>
              <a:ext uri="{FF2B5EF4-FFF2-40B4-BE49-F238E27FC236}">
                <a16:creationId xmlns:a16="http://schemas.microsoft.com/office/drawing/2014/main" id="{753501FA-14EC-80B6-0B35-0BF15BA945F8}"/>
              </a:ext>
            </a:extLst>
          </p:cNvPr>
          <p:cNvSpPr/>
          <p:nvPr/>
        </p:nvSpPr>
        <p:spPr>
          <a:xfrm>
            <a:off x="-19041351" y="-802366"/>
            <a:ext cx="15704457" cy="9368971"/>
          </a:xfrm>
          <a:prstGeom prst="round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F5822A0F-5359-9CBB-AAE8-0370D40361A2}"/>
              </a:ext>
            </a:extLst>
          </p:cNvPr>
          <p:cNvGrpSpPr/>
          <p:nvPr/>
        </p:nvGrpSpPr>
        <p:grpSpPr>
          <a:xfrm>
            <a:off x="-17998240" y="0"/>
            <a:ext cx="5987820" cy="6974109"/>
            <a:chOff x="-1603829" y="0"/>
            <a:chExt cx="9179281" cy="6974109"/>
          </a:xfrm>
        </p:grpSpPr>
        <p:sp>
          <p:nvSpPr>
            <p:cNvPr id="1031" name="Rectangle: Rounded Corners 1030">
              <a:extLst>
                <a:ext uri="{FF2B5EF4-FFF2-40B4-BE49-F238E27FC236}">
                  <a16:creationId xmlns:a16="http://schemas.microsoft.com/office/drawing/2014/main" id="{D90C8384-94F1-55EA-BB31-1A209DA95B9F}"/>
                </a:ext>
              </a:extLst>
            </p:cNvPr>
            <p:cNvSpPr/>
            <p:nvPr/>
          </p:nvSpPr>
          <p:spPr>
            <a:xfrm>
              <a:off x="-1603829" y="0"/>
              <a:ext cx="8641445" cy="6974109"/>
            </a:xfrm>
            <a:prstGeom prst="roundRect">
              <a:avLst>
                <a:gd name="adj" fmla="val 8199"/>
              </a:avLst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032" name="Rectangle: Rounded Corners 1031">
              <a:extLst>
                <a:ext uri="{FF2B5EF4-FFF2-40B4-BE49-F238E27FC236}">
                  <a16:creationId xmlns:a16="http://schemas.microsoft.com/office/drawing/2014/main" id="{0F612EAD-A60B-611A-CF34-1829ADB87FAF}"/>
                </a:ext>
              </a:extLst>
            </p:cNvPr>
            <p:cNvSpPr/>
            <p:nvPr/>
          </p:nvSpPr>
          <p:spPr>
            <a:xfrm>
              <a:off x="6187335" y="612353"/>
              <a:ext cx="1388117" cy="1312116"/>
            </a:xfrm>
            <a:prstGeom prst="roundRect">
              <a:avLst/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B0E7D839-D867-7BAC-8143-E2E5DC1999DA}"/>
              </a:ext>
            </a:extLst>
          </p:cNvPr>
          <p:cNvGrpSpPr/>
          <p:nvPr/>
        </p:nvGrpSpPr>
        <p:grpSpPr>
          <a:xfrm>
            <a:off x="-18396391" y="-1"/>
            <a:ext cx="5526743" cy="6974109"/>
            <a:chOff x="-1756229" y="-1"/>
            <a:chExt cx="8472453" cy="6974109"/>
          </a:xfrm>
        </p:grpSpPr>
        <p:sp>
          <p:nvSpPr>
            <p:cNvPr id="1034" name="Rectangle: Rounded Corners 1033">
              <a:extLst>
                <a:ext uri="{FF2B5EF4-FFF2-40B4-BE49-F238E27FC236}">
                  <a16:creationId xmlns:a16="http://schemas.microsoft.com/office/drawing/2014/main" id="{DA2C4D63-85E7-B7E8-F11C-0EC01554D5FF}"/>
                </a:ext>
              </a:extLst>
            </p:cNvPr>
            <p:cNvSpPr/>
            <p:nvPr/>
          </p:nvSpPr>
          <p:spPr>
            <a:xfrm>
              <a:off x="-1756229" y="-1"/>
              <a:ext cx="7785269" cy="6974109"/>
            </a:xfrm>
            <a:prstGeom prst="roundRect">
              <a:avLst>
                <a:gd name="adj" fmla="val 8199"/>
              </a:avLst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035" name="Rectangle: Rounded Corners 1034">
              <a:extLst>
                <a:ext uri="{FF2B5EF4-FFF2-40B4-BE49-F238E27FC236}">
                  <a16:creationId xmlns:a16="http://schemas.microsoft.com/office/drawing/2014/main" id="{CF45FE01-F0E5-46E9-B7E0-99B230BD33D9}"/>
                </a:ext>
              </a:extLst>
            </p:cNvPr>
            <p:cNvSpPr/>
            <p:nvPr/>
          </p:nvSpPr>
          <p:spPr>
            <a:xfrm>
              <a:off x="5328107" y="2062091"/>
              <a:ext cx="1388117" cy="1312116"/>
            </a:xfrm>
            <a:prstGeom prst="roundRect">
              <a:avLst/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9DB039DE-D72B-1446-15A6-15EDACD22D0E}"/>
              </a:ext>
            </a:extLst>
          </p:cNvPr>
          <p:cNvGrpSpPr/>
          <p:nvPr/>
        </p:nvGrpSpPr>
        <p:grpSpPr>
          <a:xfrm>
            <a:off x="-18746301" y="8620"/>
            <a:ext cx="4870240" cy="6974109"/>
            <a:chOff x="-1756229" y="8620"/>
            <a:chExt cx="7466040" cy="6974109"/>
          </a:xfrm>
        </p:grpSpPr>
        <p:sp>
          <p:nvSpPr>
            <p:cNvPr id="1037" name="Rectangle: Rounded Corners 1036">
              <a:extLst>
                <a:ext uri="{FF2B5EF4-FFF2-40B4-BE49-F238E27FC236}">
                  <a16:creationId xmlns:a16="http://schemas.microsoft.com/office/drawing/2014/main" id="{B023DBC4-065A-EF9C-7966-7C9FA86380F8}"/>
                </a:ext>
              </a:extLst>
            </p:cNvPr>
            <p:cNvSpPr/>
            <p:nvPr/>
          </p:nvSpPr>
          <p:spPr>
            <a:xfrm>
              <a:off x="-1756229" y="8620"/>
              <a:ext cx="6931936" cy="6974109"/>
            </a:xfrm>
            <a:prstGeom prst="roundRect">
              <a:avLst>
                <a:gd name="adj" fmla="val 8199"/>
              </a:avLst>
            </a:prstGeom>
            <a:solidFill>
              <a:srgbClr val="6666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038" name="Rectangle: Rounded Corners 1037">
              <a:extLst>
                <a:ext uri="{FF2B5EF4-FFF2-40B4-BE49-F238E27FC236}">
                  <a16:creationId xmlns:a16="http://schemas.microsoft.com/office/drawing/2014/main" id="{6FB9461D-D0DA-CE5C-3283-28A4B822BEF1}"/>
                </a:ext>
              </a:extLst>
            </p:cNvPr>
            <p:cNvSpPr/>
            <p:nvPr/>
          </p:nvSpPr>
          <p:spPr>
            <a:xfrm>
              <a:off x="4321694" y="3542116"/>
              <a:ext cx="1388117" cy="1312116"/>
            </a:xfrm>
            <a:prstGeom prst="roundRect">
              <a:avLst/>
            </a:prstGeom>
            <a:solidFill>
              <a:srgbClr val="66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74AFB345-FC54-4DF5-C2FE-0481B26F4030}"/>
              </a:ext>
            </a:extLst>
          </p:cNvPr>
          <p:cNvGrpSpPr/>
          <p:nvPr/>
        </p:nvGrpSpPr>
        <p:grpSpPr>
          <a:xfrm>
            <a:off x="-19041351" y="8619"/>
            <a:ext cx="4316668" cy="6974109"/>
            <a:chOff x="-1756229" y="8619"/>
            <a:chExt cx="6617418" cy="6974109"/>
          </a:xfrm>
        </p:grpSpPr>
        <p:sp>
          <p:nvSpPr>
            <p:cNvPr id="1040" name="Rectangle: Rounded Corners 1039">
              <a:extLst>
                <a:ext uri="{FF2B5EF4-FFF2-40B4-BE49-F238E27FC236}">
                  <a16:creationId xmlns:a16="http://schemas.microsoft.com/office/drawing/2014/main" id="{6DB1F650-D1E1-18F8-6C4F-70930BB92B5A}"/>
                </a:ext>
              </a:extLst>
            </p:cNvPr>
            <p:cNvSpPr/>
            <p:nvPr/>
          </p:nvSpPr>
          <p:spPr>
            <a:xfrm>
              <a:off x="-1756229" y="8619"/>
              <a:ext cx="5923360" cy="6974109"/>
            </a:xfrm>
            <a:prstGeom prst="roundRect">
              <a:avLst>
                <a:gd name="adj" fmla="val 8199"/>
              </a:avLst>
            </a:prstGeom>
            <a:solidFill>
              <a:srgbClr val="9933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041" name="Rectangle: Rounded Corners 1040">
              <a:extLst>
                <a:ext uri="{FF2B5EF4-FFF2-40B4-BE49-F238E27FC236}">
                  <a16:creationId xmlns:a16="http://schemas.microsoft.com/office/drawing/2014/main" id="{BC084B5A-A904-62CA-C9C2-5311E947D71F}"/>
                </a:ext>
              </a:extLst>
            </p:cNvPr>
            <p:cNvSpPr/>
            <p:nvPr/>
          </p:nvSpPr>
          <p:spPr>
            <a:xfrm>
              <a:off x="3473072" y="5022141"/>
              <a:ext cx="1388117" cy="1312116"/>
            </a:xfrm>
            <a:prstGeom prst="roundRect">
              <a:avLst/>
            </a:prstGeom>
            <a:solidFill>
              <a:srgbClr val="99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1042" name="TextBox 1041">
            <a:extLst>
              <a:ext uri="{FF2B5EF4-FFF2-40B4-BE49-F238E27FC236}">
                <a16:creationId xmlns:a16="http://schemas.microsoft.com/office/drawing/2014/main" id="{66553896-64A6-174F-522C-9775C62AF95E}"/>
              </a:ext>
            </a:extLst>
          </p:cNvPr>
          <p:cNvSpPr txBox="1"/>
          <p:nvPr/>
        </p:nvSpPr>
        <p:spPr>
          <a:xfrm>
            <a:off x="-12024167" y="185770"/>
            <a:ext cx="6917298" cy="6376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1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Mobility Training</a:t>
            </a:r>
            <a:endParaRPr lang="en-PH" sz="2100" dirty="0">
              <a:effectLst/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Enhances freedom of movement in joints.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Reduces risk of injuries related to joint dysfunction.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PH" sz="21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Exercises</a:t>
            </a:r>
          </a:p>
          <a:p>
            <a:pPr marL="1257300" lvl="2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 stretching (e.g., leg swings)</a:t>
            </a:r>
          </a:p>
          <a:p>
            <a:pPr marL="1257300" lvl="2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Joint mobilization exercises (e.g., hip circles)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1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Warm-Up: Preparing the Body for Activity</a:t>
            </a:r>
            <a:endParaRPr lang="en-PH" sz="2100" dirty="0">
              <a:effectLst/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Preparatory exercises performed before engaging in more vigorous activities.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Activates the nervous, circulatory, and respiratory systems.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1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Types of Warm-Ups</a:t>
            </a:r>
            <a:endParaRPr lang="en-PH" sz="2100" dirty="0">
              <a:effectLst/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1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General Warm-Up</a:t>
            </a: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Low-intensity exercises like brisk walking or light jogging.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1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Specific Warm-Up</a:t>
            </a: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Exercises that mimic the movements of the activity to be performed.</a:t>
            </a:r>
          </a:p>
        </p:txBody>
      </p:sp>
    </p:spTree>
    <p:extLst>
      <p:ext uri="{BB962C8B-B14F-4D97-AF65-F5344CB8AC3E}">
        <p14:creationId xmlns:p14="http://schemas.microsoft.com/office/powerpoint/2010/main" val="2008871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B1593C6-D594-1512-58D9-D2A32892EB00}"/>
              </a:ext>
            </a:extLst>
          </p:cNvPr>
          <p:cNvGrpSpPr/>
          <p:nvPr/>
        </p:nvGrpSpPr>
        <p:grpSpPr>
          <a:xfrm>
            <a:off x="-20203887" y="-133350"/>
            <a:ext cx="37046977" cy="7124700"/>
            <a:chOff x="-2" y="-133350"/>
            <a:chExt cx="37046977" cy="7124700"/>
          </a:xfrm>
        </p:grpSpPr>
        <p:pic>
          <p:nvPicPr>
            <p:cNvPr id="4" name="Picture 3" descr="Flexibility Training: Finding Your Best Range of Motion | ISSA">
              <a:extLst>
                <a:ext uri="{FF2B5EF4-FFF2-40B4-BE49-F238E27FC236}">
                  <a16:creationId xmlns:a16="http://schemas.microsoft.com/office/drawing/2014/main" id="{ADA82564-5310-4C7C-AF04-59BF1A1D35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950"/>
            <a:stretch/>
          </p:blipFill>
          <p:spPr bwMode="auto">
            <a:xfrm>
              <a:off x="-2" y="0"/>
              <a:ext cx="12192002" cy="6858000"/>
            </a:xfrm>
            <a:custGeom>
              <a:avLst/>
              <a:gdLst>
                <a:gd name="connsiteX0" fmla="*/ 12192001 w 12192002"/>
                <a:gd name="connsiteY0" fmla="*/ 152400 h 6858000"/>
                <a:gd name="connsiteX1" fmla="*/ 12192002 w 12192002"/>
                <a:gd name="connsiteY1" fmla="*/ 152400 h 6858000"/>
                <a:gd name="connsiteX2" fmla="*/ 12192002 w 12192002"/>
                <a:gd name="connsiteY2" fmla="*/ 3581400 h 6858000"/>
                <a:gd name="connsiteX3" fmla="*/ 12192001 w 12192002"/>
                <a:gd name="connsiteY3" fmla="*/ 3581400 h 6858000"/>
                <a:gd name="connsiteX4" fmla="*/ 0 w 12192002"/>
                <a:gd name="connsiteY4" fmla="*/ 0 h 6858000"/>
                <a:gd name="connsiteX5" fmla="*/ 12192001 w 12192002"/>
                <a:gd name="connsiteY5" fmla="*/ 0 h 6858000"/>
                <a:gd name="connsiteX6" fmla="*/ 12192001 w 12192002"/>
                <a:gd name="connsiteY6" fmla="*/ 152400 h 6858000"/>
                <a:gd name="connsiteX7" fmla="*/ 5067303 w 12192002"/>
                <a:gd name="connsiteY7" fmla="*/ 152400 h 6858000"/>
                <a:gd name="connsiteX8" fmla="*/ 5067303 w 12192002"/>
                <a:gd name="connsiteY8" fmla="*/ 3581400 h 6858000"/>
                <a:gd name="connsiteX9" fmla="*/ 12192001 w 12192002"/>
                <a:gd name="connsiteY9" fmla="*/ 3581400 h 6858000"/>
                <a:gd name="connsiteX10" fmla="*/ 12192001 w 12192002"/>
                <a:gd name="connsiteY10" fmla="*/ 6858000 h 6858000"/>
                <a:gd name="connsiteX11" fmla="*/ 0 w 12192002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2" h="6858000">
                  <a:moveTo>
                    <a:pt x="12192001" y="152400"/>
                  </a:moveTo>
                  <a:lnTo>
                    <a:pt x="12192002" y="152400"/>
                  </a:lnTo>
                  <a:lnTo>
                    <a:pt x="12192002" y="3581400"/>
                  </a:lnTo>
                  <a:lnTo>
                    <a:pt x="12192001" y="3581400"/>
                  </a:lnTo>
                  <a:close/>
                  <a:moveTo>
                    <a:pt x="0" y="0"/>
                  </a:moveTo>
                  <a:lnTo>
                    <a:pt x="12192001" y="0"/>
                  </a:lnTo>
                  <a:lnTo>
                    <a:pt x="12192001" y="152400"/>
                  </a:lnTo>
                  <a:lnTo>
                    <a:pt x="5067303" y="152400"/>
                  </a:lnTo>
                  <a:lnTo>
                    <a:pt x="5067303" y="3581400"/>
                  </a:lnTo>
                  <a:lnTo>
                    <a:pt x="12192001" y="3581400"/>
                  </a:lnTo>
                  <a:lnTo>
                    <a:pt x="12192001" y="6858000"/>
                  </a:lnTo>
                  <a:lnTo>
                    <a:pt x="0" y="6858000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32D49F7-FCDC-96C9-A74B-7D88982F8E60}"/>
                </a:ext>
              </a:extLst>
            </p:cNvPr>
            <p:cNvGrpSpPr/>
            <p:nvPr/>
          </p:nvGrpSpPr>
          <p:grpSpPr>
            <a:xfrm>
              <a:off x="8334375" y="-133350"/>
              <a:ext cx="28712600" cy="7124700"/>
              <a:chOff x="-85725" y="-133350"/>
              <a:chExt cx="28712600" cy="7124700"/>
            </a:xfrm>
          </p:grpSpPr>
          <p:pic>
            <p:nvPicPr>
              <p:cNvPr id="1028" name="Picture 4" descr="STABILITY AND MOBILITY">
                <a:extLst>
                  <a:ext uri="{FF2B5EF4-FFF2-40B4-BE49-F238E27FC236}">
                    <a16:creationId xmlns:a16="http://schemas.microsoft.com/office/drawing/2014/main" id="{B0E88C80-7283-1898-C77A-E27366D492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952525" y="-133350"/>
                <a:ext cx="10674350" cy="710745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D94C6BB-C8D3-0B4C-9329-370BD75C4C60}"/>
                  </a:ext>
                </a:extLst>
              </p:cNvPr>
              <p:cNvSpPr/>
              <p:nvPr/>
            </p:nvSpPr>
            <p:spPr>
              <a:xfrm>
                <a:off x="-85725" y="-133350"/>
                <a:ext cx="19046826" cy="71247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4E54EE-2E2C-CD6D-5A09-E574961BFE10}"/>
                  </a:ext>
                </a:extLst>
              </p:cNvPr>
              <p:cNvSpPr txBox="1"/>
              <p:nvPr/>
            </p:nvSpPr>
            <p:spPr>
              <a:xfrm>
                <a:off x="390525" y="788889"/>
                <a:ext cx="3086100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800" b="1" i="0" u="none" strike="noStrike" dirty="0">
                    <a:solidFill>
                      <a:schemeClr val="bg1"/>
                    </a:solidFill>
                    <a:effectLst/>
                    <a:latin typeface="Bahnschrift Light Condensed" panose="020B0502040204020203" pitchFamily="34" charset="0"/>
                  </a:rPr>
                  <a:t>Chapter 3: Mobility Training and Assessment of Movement Competency</a:t>
                </a:r>
              </a:p>
              <a:p>
                <a:pPr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PH" sz="4800" b="1" dirty="0">
                    <a:solidFill>
                      <a:schemeClr val="bg1"/>
                    </a:solidFill>
                    <a:latin typeface="Bahnschrift Light Condensed" panose="020B0502040204020203" pitchFamily="34" charset="0"/>
                  </a:rPr>
                  <a:t>WEEK 8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132DF47-80AE-9600-5845-935DCA4D3A9E}"/>
                  </a:ext>
                </a:extLst>
              </p:cNvPr>
              <p:cNvSpPr txBox="1"/>
              <p:nvPr/>
            </p:nvSpPr>
            <p:spPr>
              <a:xfrm>
                <a:off x="4365215" y="1283184"/>
                <a:ext cx="7439025" cy="4308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200" b="1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Introduction to Movement Competency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32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 Movement competency refers to the ability to perform fundamental movements with proper technique.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-US" sz="3200" dirty="0">
                  <a:solidFill>
                    <a:schemeClr val="bg1"/>
                  </a:solidFill>
                  <a:latin typeface="Bahnschrift Light SemiCondensed" panose="020B0502040204020203" pitchFamily="34" charset="0"/>
                </a:endParaRP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200" b="1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Importance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32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 Critical for fitness activities, reducing injury risks, and enhancing performance.</a:t>
                </a:r>
                <a:br>
                  <a:rPr lang="en-US" dirty="0">
                    <a:solidFill>
                      <a:schemeClr val="bg1"/>
                    </a:solidFill>
                  </a:rPr>
                </a:br>
                <a:endParaRPr lang="en-PH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AB9C34-8984-574E-B68A-0DE2181A0E85}"/>
                  </a:ext>
                </a:extLst>
              </p:cNvPr>
              <p:cNvSpPr txBox="1"/>
              <p:nvPr/>
            </p:nvSpPr>
            <p:spPr>
              <a:xfrm>
                <a:off x="12188877" y="582066"/>
                <a:ext cx="6442024" cy="5693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b="1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Understanding Mobility and Stability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u="sng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Mobility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The ability of a joint to move through its full range of motion.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	Examples of Mobile Joints: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	Ankle: Moves in the sagittal plane.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	Hip: Moves in multiple planes (flexion, 	extension, rotation).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u="sng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Stability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The ability of muscles and connective tissues to control joint movement.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	Example: Core stability during a 	plank 	exercise.</a:t>
                </a:r>
              </a:p>
            </p:txBody>
          </p:sp>
        </p:grpSp>
      </p:grp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CEFADD2-2E67-0622-8603-C3DD2B4ADD83}"/>
              </a:ext>
            </a:extLst>
          </p:cNvPr>
          <p:cNvSpPr/>
          <p:nvPr/>
        </p:nvSpPr>
        <p:spPr>
          <a:xfrm>
            <a:off x="-1756229" y="-802366"/>
            <a:ext cx="15704457" cy="9368971"/>
          </a:xfrm>
          <a:prstGeom prst="round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2DC8FA-6E13-E6BC-AC38-4ABF900C045A}"/>
              </a:ext>
            </a:extLst>
          </p:cNvPr>
          <p:cNvSpPr txBox="1"/>
          <p:nvPr/>
        </p:nvSpPr>
        <p:spPr>
          <a:xfrm>
            <a:off x="5260955" y="185770"/>
            <a:ext cx="6917298" cy="6376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1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Mobility Training</a:t>
            </a:r>
            <a:endParaRPr lang="en-PH" sz="2100" dirty="0">
              <a:effectLst/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Enhances freedom of movement in joints.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Reduces risk of injuries related to joint dysfunction.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PH" sz="21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Exercises</a:t>
            </a:r>
          </a:p>
          <a:p>
            <a:pPr marL="1257300" lvl="2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 stretching (e.g., leg swings)</a:t>
            </a:r>
          </a:p>
          <a:p>
            <a:pPr marL="1257300" lvl="2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Joint mobilization exercises (e.g., hip circles)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1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Warm-Up: Preparing the Body for Activity</a:t>
            </a:r>
            <a:endParaRPr lang="en-PH" sz="2100" dirty="0">
              <a:effectLst/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Preparatory exercises performed before engaging in more vigorous activities.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Activates the nervous, circulatory, and respiratory systems.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1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Types of Warm-Ups</a:t>
            </a:r>
            <a:endParaRPr lang="en-PH" sz="2100" dirty="0">
              <a:effectLst/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1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General Warm-Up</a:t>
            </a: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Low-intensity exercises like brisk walking or light jogging.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1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Specific Warm-Up</a:t>
            </a: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Exercises that mimic the movements of the activity to be performed.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8AF2D84-E465-4A98-EEED-9DD50BCDCC93}"/>
              </a:ext>
            </a:extLst>
          </p:cNvPr>
          <p:cNvGrpSpPr/>
          <p:nvPr/>
        </p:nvGrpSpPr>
        <p:grpSpPr>
          <a:xfrm>
            <a:off x="-713118" y="0"/>
            <a:ext cx="5987820" cy="6974109"/>
            <a:chOff x="-1603829" y="0"/>
            <a:chExt cx="9179281" cy="6974109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D3605B-A145-3BEE-4E88-2D0E71A1B0A1}"/>
                </a:ext>
              </a:extLst>
            </p:cNvPr>
            <p:cNvSpPr/>
            <p:nvPr/>
          </p:nvSpPr>
          <p:spPr>
            <a:xfrm>
              <a:off x="-1603829" y="0"/>
              <a:ext cx="8641445" cy="6974109"/>
            </a:xfrm>
            <a:prstGeom prst="roundRect">
              <a:avLst>
                <a:gd name="adj" fmla="val 8199"/>
              </a:avLst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95DDFF9-8BFA-001E-9334-916DD423744F}"/>
                </a:ext>
              </a:extLst>
            </p:cNvPr>
            <p:cNvSpPr/>
            <p:nvPr/>
          </p:nvSpPr>
          <p:spPr>
            <a:xfrm>
              <a:off x="6187335" y="612353"/>
              <a:ext cx="1388117" cy="1312116"/>
            </a:xfrm>
            <a:prstGeom prst="roundRect">
              <a:avLst/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2CF3166-0D57-BE7F-5DB9-8B2AE702E6AD}"/>
              </a:ext>
            </a:extLst>
          </p:cNvPr>
          <p:cNvSpPr txBox="1"/>
          <p:nvPr/>
        </p:nvSpPr>
        <p:spPr>
          <a:xfrm>
            <a:off x="-9598045" y="338170"/>
            <a:ext cx="6917298" cy="3327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 Warm-Up Techniques</a:t>
            </a:r>
            <a:endParaRPr lang="en-PH" sz="2000" dirty="0">
              <a:effectLst/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Purpose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0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Actively warms up the body through movement.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0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Improves joint mobility and muscle temperature.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H" sz="20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Examples: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0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Arm Circles: Increases shoulder mobility.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0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 Knees: Activates the hip flexors and increases heart rate.</a:t>
            </a:r>
          </a:p>
        </p:txBody>
      </p:sp>
      <p:pic>
        <p:nvPicPr>
          <p:cNvPr id="31" name="Picture 2" descr="High Knees: Benefits, Muscles Worked, and How-To">
            <a:extLst>
              <a:ext uri="{FF2B5EF4-FFF2-40B4-BE49-F238E27FC236}">
                <a16:creationId xmlns:a16="http://schemas.microsoft.com/office/drawing/2014/main" id="{BD5D433B-CBBD-1897-868C-5D8EBBE417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952"/>
          <a:stretch/>
        </p:blipFill>
        <p:spPr bwMode="auto">
          <a:xfrm>
            <a:off x="-8360214" y="3904965"/>
            <a:ext cx="4441636" cy="2830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5641D28C-39AA-08C7-7833-40B25905F0A2}"/>
              </a:ext>
            </a:extLst>
          </p:cNvPr>
          <p:cNvGrpSpPr/>
          <p:nvPr/>
        </p:nvGrpSpPr>
        <p:grpSpPr>
          <a:xfrm>
            <a:off x="-1111269" y="-1"/>
            <a:ext cx="5526743" cy="6974109"/>
            <a:chOff x="-1756229" y="-1"/>
            <a:chExt cx="8472453" cy="6974109"/>
          </a:xfrm>
        </p:grpSpPr>
        <p:sp>
          <p:nvSpPr>
            <p:cNvPr id="1025" name="Rectangle: Rounded Corners 1024">
              <a:extLst>
                <a:ext uri="{FF2B5EF4-FFF2-40B4-BE49-F238E27FC236}">
                  <a16:creationId xmlns:a16="http://schemas.microsoft.com/office/drawing/2014/main" id="{AC63C2A2-F690-2AF5-BD7E-E95C1C866503}"/>
                </a:ext>
              </a:extLst>
            </p:cNvPr>
            <p:cNvSpPr/>
            <p:nvPr/>
          </p:nvSpPr>
          <p:spPr>
            <a:xfrm>
              <a:off x="-1756229" y="-1"/>
              <a:ext cx="7785269" cy="6974109"/>
            </a:xfrm>
            <a:prstGeom prst="roundRect">
              <a:avLst>
                <a:gd name="adj" fmla="val 8199"/>
              </a:avLst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026" name="Rectangle: Rounded Corners 1025">
              <a:extLst>
                <a:ext uri="{FF2B5EF4-FFF2-40B4-BE49-F238E27FC236}">
                  <a16:creationId xmlns:a16="http://schemas.microsoft.com/office/drawing/2014/main" id="{372EFF59-CE6A-86FB-C40B-A8819E7D7B7F}"/>
                </a:ext>
              </a:extLst>
            </p:cNvPr>
            <p:cNvSpPr/>
            <p:nvPr/>
          </p:nvSpPr>
          <p:spPr>
            <a:xfrm>
              <a:off x="5328107" y="2062091"/>
              <a:ext cx="1388117" cy="1312116"/>
            </a:xfrm>
            <a:prstGeom prst="roundRect">
              <a:avLst/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EAEC2470-298B-6E31-9C84-EF2AA37A2C69}"/>
              </a:ext>
            </a:extLst>
          </p:cNvPr>
          <p:cNvGrpSpPr/>
          <p:nvPr/>
        </p:nvGrpSpPr>
        <p:grpSpPr>
          <a:xfrm>
            <a:off x="-1461179" y="8620"/>
            <a:ext cx="4870240" cy="6974109"/>
            <a:chOff x="-1756229" y="8620"/>
            <a:chExt cx="7466040" cy="6974109"/>
          </a:xfrm>
        </p:grpSpPr>
        <p:sp>
          <p:nvSpPr>
            <p:cNvPr id="1043" name="Rectangle: Rounded Corners 1042">
              <a:extLst>
                <a:ext uri="{FF2B5EF4-FFF2-40B4-BE49-F238E27FC236}">
                  <a16:creationId xmlns:a16="http://schemas.microsoft.com/office/drawing/2014/main" id="{D002718D-8BB1-895E-112D-9792F57B2508}"/>
                </a:ext>
              </a:extLst>
            </p:cNvPr>
            <p:cNvSpPr/>
            <p:nvPr/>
          </p:nvSpPr>
          <p:spPr>
            <a:xfrm>
              <a:off x="-1756229" y="8620"/>
              <a:ext cx="6931936" cy="6974109"/>
            </a:xfrm>
            <a:prstGeom prst="roundRect">
              <a:avLst>
                <a:gd name="adj" fmla="val 8199"/>
              </a:avLst>
            </a:prstGeom>
            <a:solidFill>
              <a:srgbClr val="6666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044" name="Rectangle: Rounded Corners 1043">
              <a:extLst>
                <a:ext uri="{FF2B5EF4-FFF2-40B4-BE49-F238E27FC236}">
                  <a16:creationId xmlns:a16="http://schemas.microsoft.com/office/drawing/2014/main" id="{840AF587-4638-5377-11B3-E18C4237CB38}"/>
                </a:ext>
              </a:extLst>
            </p:cNvPr>
            <p:cNvSpPr/>
            <p:nvPr/>
          </p:nvSpPr>
          <p:spPr>
            <a:xfrm>
              <a:off x="4321694" y="3542116"/>
              <a:ext cx="1388117" cy="1312116"/>
            </a:xfrm>
            <a:prstGeom prst="roundRect">
              <a:avLst/>
            </a:prstGeom>
            <a:solidFill>
              <a:srgbClr val="66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6E6AE2DF-6886-8F65-D345-CBE126BBF4BF}"/>
              </a:ext>
            </a:extLst>
          </p:cNvPr>
          <p:cNvGrpSpPr/>
          <p:nvPr/>
        </p:nvGrpSpPr>
        <p:grpSpPr>
          <a:xfrm>
            <a:off x="-1756229" y="8619"/>
            <a:ext cx="4316668" cy="6974109"/>
            <a:chOff x="-1756229" y="8619"/>
            <a:chExt cx="6617418" cy="6974109"/>
          </a:xfrm>
        </p:grpSpPr>
        <p:sp>
          <p:nvSpPr>
            <p:cNvPr id="1046" name="Rectangle: Rounded Corners 1045">
              <a:extLst>
                <a:ext uri="{FF2B5EF4-FFF2-40B4-BE49-F238E27FC236}">
                  <a16:creationId xmlns:a16="http://schemas.microsoft.com/office/drawing/2014/main" id="{40DC1DDC-0296-5D2F-211A-21FA0EB5D6BD}"/>
                </a:ext>
              </a:extLst>
            </p:cNvPr>
            <p:cNvSpPr/>
            <p:nvPr/>
          </p:nvSpPr>
          <p:spPr>
            <a:xfrm>
              <a:off x="-1756229" y="8619"/>
              <a:ext cx="5923360" cy="6974109"/>
            </a:xfrm>
            <a:prstGeom prst="roundRect">
              <a:avLst>
                <a:gd name="adj" fmla="val 8199"/>
              </a:avLst>
            </a:prstGeom>
            <a:solidFill>
              <a:srgbClr val="9933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047" name="Rectangle: Rounded Corners 1046">
              <a:extLst>
                <a:ext uri="{FF2B5EF4-FFF2-40B4-BE49-F238E27FC236}">
                  <a16:creationId xmlns:a16="http://schemas.microsoft.com/office/drawing/2014/main" id="{4723BECF-7197-3CF6-33ED-85BE7108534E}"/>
                </a:ext>
              </a:extLst>
            </p:cNvPr>
            <p:cNvSpPr/>
            <p:nvPr/>
          </p:nvSpPr>
          <p:spPr>
            <a:xfrm>
              <a:off x="3473072" y="5022141"/>
              <a:ext cx="1388117" cy="1312116"/>
            </a:xfrm>
            <a:prstGeom prst="roundRect">
              <a:avLst/>
            </a:prstGeom>
            <a:solidFill>
              <a:srgbClr val="99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32757261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B1593C6-D594-1512-58D9-D2A32892EB00}"/>
              </a:ext>
            </a:extLst>
          </p:cNvPr>
          <p:cNvGrpSpPr/>
          <p:nvPr/>
        </p:nvGrpSpPr>
        <p:grpSpPr>
          <a:xfrm>
            <a:off x="-20203887" y="-133350"/>
            <a:ext cx="37046977" cy="7124700"/>
            <a:chOff x="-2" y="-133350"/>
            <a:chExt cx="37046977" cy="7124700"/>
          </a:xfrm>
        </p:grpSpPr>
        <p:pic>
          <p:nvPicPr>
            <p:cNvPr id="4" name="Picture 3" descr="Flexibility Training: Finding Your Best Range of Motion | ISSA">
              <a:extLst>
                <a:ext uri="{FF2B5EF4-FFF2-40B4-BE49-F238E27FC236}">
                  <a16:creationId xmlns:a16="http://schemas.microsoft.com/office/drawing/2014/main" id="{ADA82564-5310-4C7C-AF04-59BF1A1D35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950"/>
            <a:stretch/>
          </p:blipFill>
          <p:spPr bwMode="auto">
            <a:xfrm>
              <a:off x="-2" y="0"/>
              <a:ext cx="12192002" cy="6858000"/>
            </a:xfrm>
            <a:custGeom>
              <a:avLst/>
              <a:gdLst>
                <a:gd name="connsiteX0" fmla="*/ 12192001 w 12192002"/>
                <a:gd name="connsiteY0" fmla="*/ 152400 h 6858000"/>
                <a:gd name="connsiteX1" fmla="*/ 12192002 w 12192002"/>
                <a:gd name="connsiteY1" fmla="*/ 152400 h 6858000"/>
                <a:gd name="connsiteX2" fmla="*/ 12192002 w 12192002"/>
                <a:gd name="connsiteY2" fmla="*/ 3581400 h 6858000"/>
                <a:gd name="connsiteX3" fmla="*/ 12192001 w 12192002"/>
                <a:gd name="connsiteY3" fmla="*/ 3581400 h 6858000"/>
                <a:gd name="connsiteX4" fmla="*/ 0 w 12192002"/>
                <a:gd name="connsiteY4" fmla="*/ 0 h 6858000"/>
                <a:gd name="connsiteX5" fmla="*/ 12192001 w 12192002"/>
                <a:gd name="connsiteY5" fmla="*/ 0 h 6858000"/>
                <a:gd name="connsiteX6" fmla="*/ 12192001 w 12192002"/>
                <a:gd name="connsiteY6" fmla="*/ 152400 h 6858000"/>
                <a:gd name="connsiteX7" fmla="*/ 5067303 w 12192002"/>
                <a:gd name="connsiteY7" fmla="*/ 152400 h 6858000"/>
                <a:gd name="connsiteX8" fmla="*/ 5067303 w 12192002"/>
                <a:gd name="connsiteY8" fmla="*/ 3581400 h 6858000"/>
                <a:gd name="connsiteX9" fmla="*/ 12192001 w 12192002"/>
                <a:gd name="connsiteY9" fmla="*/ 3581400 h 6858000"/>
                <a:gd name="connsiteX10" fmla="*/ 12192001 w 12192002"/>
                <a:gd name="connsiteY10" fmla="*/ 6858000 h 6858000"/>
                <a:gd name="connsiteX11" fmla="*/ 0 w 12192002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2" h="6858000">
                  <a:moveTo>
                    <a:pt x="12192001" y="152400"/>
                  </a:moveTo>
                  <a:lnTo>
                    <a:pt x="12192002" y="152400"/>
                  </a:lnTo>
                  <a:lnTo>
                    <a:pt x="12192002" y="3581400"/>
                  </a:lnTo>
                  <a:lnTo>
                    <a:pt x="12192001" y="3581400"/>
                  </a:lnTo>
                  <a:close/>
                  <a:moveTo>
                    <a:pt x="0" y="0"/>
                  </a:moveTo>
                  <a:lnTo>
                    <a:pt x="12192001" y="0"/>
                  </a:lnTo>
                  <a:lnTo>
                    <a:pt x="12192001" y="152400"/>
                  </a:lnTo>
                  <a:lnTo>
                    <a:pt x="5067303" y="152400"/>
                  </a:lnTo>
                  <a:lnTo>
                    <a:pt x="5067303" y="3581400"/>
                  </a:lnTo>
                  <a:lnTo>
                    <a:pt x="12192001" y="3581400"/>
                  </a:lnTo>
                  <a:lnTo>
                    <a:pt x="12192001" y="6858000"/>
                  </a:lnTo>
                  <a:lnTo>
                    <a:pt x="0" y="6858000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32D49F7-FCDC-96C9-A74B-7D88982F8E60}"/>
                </a:ext>
              </a:extLst>
            </p:cNvPr>
            <p:cNvGrpSpPr/>
            <p:nvPr/>
          </p:nvGrpSpPr>
          <p:grpSpPr>
            <a:xfrm>
              <a:off x="8334375" y="-133350"/>
              <a:ext cx="28712600" cy="7124700"/>
              <a:chOff x="-85725" y="-133350"/>
              <a:chExt cx="28712600" cy="7124700"/>
            </a:xfrm>
          </p:grpSpPr>
          <p:pic>
            <p:nvPicPr>
              <p:cNvPr id="1028" name="Picture 4" descr="STABILITY AND MOBILITY">
                <a:extLst>
                  <a:ext uri="{FF2B5EF4-FFF2-40B4-BE49-F238E27FC236}">
                    <a16:creationId xmlns:a16="http://schemas.microsoft.com/office/drawing/2014/main" id="{B0E88C80-7283-1898-C77A-E27366D492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952525" y="-133350"/>
                <a:ext cx="10674350" cy="710745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D94C6BB-C8D3-0B4C-9329-370BD75C4C60}"/>
                  </a:ext>
                </a:extLst>
              </p:cNvPr>
              <p:cNvSpPr/>
              <p:nvPr/>
            </p:nvSpPr>
            <p:spPr>
              <a:xfrm>
                <a:off x="-85725" y="-133350"/>
                <a:ext cx="19046826" cy="71247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4E54EE-2E2C-CD6D-5A09-E574961BFE10}"/>
                  </a:ext>
                </a:extLst>
              </p:cNvPr>
              <p:cNvSpPr txBox="1"/>
              <p:nvPr/>
            </p:nvSpPr>
            <p:spPr>
              <a:xfrm>
                <a:off x="390525" y="788889"/>
                <a:ext cx="3086100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4800" b="1" i="0" u="none" strike="noStrike" dirty="0">
                    <a:solidFill>
                      <a:schemeClr val="bg1"/>
                    </a:solidFill>
                    <a:effectLst/>
                    <a:latin typeface="Bahnschrift Light Condensed" panose="020B0502040204020203" pitchFamily="34" charset="0"/>
                  </a:rPr>
                  <a:t>Chapter 3: Mobility Training and Assessment of Movement Competency</a:t>
                </a:r>
              </a:p>
              <a:p>
                <a:pPr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PH" sz="4800" b="1" dirty="0">
                    <a:solidFill>
                      <a:schemeClr val="bg1"/>
                    </a:solidFill>
                    <a:latin typeface="Bahnschrift Light Condensed" panose="020B0502040204020203" pitchFamily="34" charset="0"/>
                  </a:rPr>
                  <a:t>WEEK 8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132DF47-80AE-9600-5845-935DCA4D3A9E}"/>
                  </a:ext>
                </a:extLst>
              </p:cNvPr>
              <p:cNvSpPr txBox="1"/>
              <p:nvPr/>
            </p:nvSpPr>
            <p:spPr>
              <a:xfrm>
                <a:off x="4365215" y="1283184"/>
                <a:ext cx="7439025" cy="4308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200" b="1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Introduction to Movement Competency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32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 Movement competency refers to the ability to perform fundamental movements with proper technique.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-US" sz="3200" dirty="0">
                  <a:solidFill>
                    <a:schemeClr val="bg1"/>
                  </a:solidFill>
                  <a:latin typeface="Bahnschrift Light SemiCondensed" panose="020B0502040204020203" pitchFamily="34" charset="0"/>
                </a:endParaRP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200" b="1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Importance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32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 Critical for fitness activities, reducing injury risks, and enhancing performance.</a:t>
                </a:r>
                <a:br>
                  <a:rPr lang="en-US" dirty="0">
                    <a:solidFill>
                      <a:schemeClr val="bg1"/>
                    </a:solidFill>
                  </a:rPr>
                </a:br>
                <a:endParaRPr lang="en-PH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AB9C34-8984-574E-B68A-0DE2181A0E85}"/>
                  </a:ext>
                </a:extLst>
              </p:cNvPr>
              <p:cNvSpPr txBox="1"/>
              <p:nvPr/>
            </p:nvSpPr>
            <p:spPr>
              <a:xfrm>
                <a:off x="12188877" y="582066"/>
                <a:ext cx="6442024" cy="5693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b="1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Understanding Mobility and Stability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u="sng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Mobility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The ability of a joint to move through its full range of motion.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	Examples of Mobile Joints: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	Ankle: Moves in the sagittal plane.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	Hip: Moves in multiple planes (flexion, 	extension, rotation).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u="sng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Stability</a:t>
                </a:r>
              </a:p>
              <a:p>
                <a:pPr marL="457200" indent="-457200" rtl="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The ability of muscles and connective tissues to control joint movement.</a:t>
                </a:r>
              </a:p>
              <a:p>
                <a:pPr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	Example: Core stability during a 	plank 	exercise.</a:t>
                </a:r>
              </a:p>
            </p:txBody>
          </p:sp>
        </p:grpSp>
      </p:grpSp>
      <p:sp>
        <p:nvSpPr>
          <p:cNvPr id="1029" name="Rectangle: Rounded Corners 1028">
            <a:extLst>
              <a:ext uri="{FF2B5EF4-FFF2-40B4-BE49-F238E27FC236}">
                <a16:creationId xmlns:a16="http://schemas.microsoft.com/office/drawing/2014/main" id="{54E55D2D-1951-758C-0E57-CEA280E3230C}"/>
              </a:ext>
            </a:extLst>
          </p:cNvPr>
          <p:cNvSpPr/>
          <p:nvPr/>
        </p:nvSpPr>
        <p:spPr>
          <a:xfrm>
            <a:off x="-1756229" y="-802366"/>
            <a:ext cx="15704457" cy="9368971"/>
          </a:xfrm>
          <a:prstGeom prst="round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F7181ACB-32D6-B7F8-3367-B616FC7CC72D}"/>
              </a:ext>
            </a:extLst>
          </p:cNvPr>
          <p:cNvSpPr txBox="1"/>
          <p:nvPr/>
        </p:nvSpPr>
        <p:spPr>
          <a:xfrm>
            <a:off x="5260955" y="185770"/>
            <a:ext cx="6917298" cy="6376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1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Mobility Training</a:t>
            </a:r>
            <a:endParaRPr lang="en-PH" sz="2100" dirty="0">
              <a:effectLst/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Enhances freedom of movement in joints.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Reduces risk of injuries related to joint dysfunction.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PH" sz="21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Exercises</a:t>
            </a:r>
          </a:p>
          <a:p>
            <a:pPr marL="1257300" lvl="2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 stretching (e.g., leg swings)</a:t>
            </a:r>
          </a:p>
          <a:p>
            <a:pPr marL="1257300" lvl="2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Joint mobilization exercises (e.g., hip circles)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1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Warm-Up: Preparing the Body for Activity</a:t>
            </a:r>
            <a:endParaRPr lang="en-PH" sz="2100" dirty="0">
              <a:effectLst/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Preparatory exercises performed before engaging in more vigorous activities.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Activates the nervous, circulatory, and respiratory systems.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1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Types of Warm-Ups</a:t>
            </a:r>
            <a:endParaRPr lang="en-PH" sz="2100" dirty="0">
              <a:effectLst/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1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General Warm-Up</a:t>
            </a: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Low-intensity exercises like brisk walking or light jogging.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1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Specific Warm-Up</a:t>
            </a: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Exercises that mimic the movements of the activity to be performed.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EE4675-125F-2FD1-406E-4F4DE1930920}"/>
              </a:ext>
            </a:extLst>
          </p:cNvPr>
          <p:cNvGrpSpPr/>
          <p:nvPr/>
        </p:nvGrpSpPr>
        <p:grpSpPr>
          <a:xfrm>
            <a:off x="-713118" y="0"/>
            <a:ext cx="15561232" cy="6974109"/>
            <a:chOff x="-1603829" y="0"/>
            <a:chExt cx="9179281" cy="697410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A4F137D-7329-FE0C-51F2-48C14B3F908E}"/>
                </a:ext>
              </a:extLst>
            </p:cNvPr>
            <p:cNvSpPr/>
            <p:nvPr/>
          </p:nvSpPr>
          <p:spPr>
            <a:xfrm>
              <a:off x="-1603829" y="0"/>
              <a:ext cx="8641445" cy="6974109"/>
            </a:xfrm>
            <a:prstGeom prst="roundRect">
              <a:avLst>
                <a:gd name="adj" fmla="val 8199"/>
              </a:avLst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5EF935D-7312-EE15-8E2E-7909373A25DA}"/>
                </a:ext>
              </a:extLst>
            </p:cNvPr>
            <p:cNvSpPr/>
            <p:nvPr/>
          </p:nvSpPr>
          <p:spPr>
            <a:xfrm>
              <a:off x="6187335" y="612353"/>
              <a:ext cx="1388117" cy="1312116"/>
            </a:xfrm>
            <a:prstGeom prst="roundRect">
              <a:avLst/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E46E9EE-C5F0-61E6-7A1A-8A4BDBDC5E7F}"/>
              </a:ext>
            </a:extLst>
          </p:cNvPr>
          <p:cNvSpPr txBox="1"/>
          <p:nvPr/>
        </p:nvSpPr>
        <p:spPr>
          <a:xfrm>
            <a:off x="4994255" y="338170"/>
            <a:ext cx="6917298" cy="3327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 Warm-Up Techniques</a:t>
            </a:r>
            <a:endParaRPr lang="en-PH" sz="2000" dirty="0">
              <a:effectLst/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Purpose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0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Actively warms up the body through movement.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0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Improves joint mobility and muscle temperature.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H" sz="20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Examples: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0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Arm Circles: Increases shoulder mobility.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0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 Knees: Activates the hip flexors and increases heart rate.</a:t>
            </a:r>
          </a:p>
        </p:txBody>
      </p:sp>
      <p:pic>
        <p:nvPicPr>
          <p:cNvPr id="13" name="Picture 2" descr="High Knees: Benefits, Muscles Worked, and How-To">
            <a:extLst>
              <a:ext uri="{FF2B5EF4-FFF2-40B4-BE49-F238E27FC236}">
                <a16:creationId xmlns:a16="http://schemas.microsoft.com/office/drawing/2014/main" id="{20EA34F6-062A-1AAF-ECDE-08359C0358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952"/>
          <a:stretch/>
        </p:blipFill>
        <p:spPr bwMode="auto">
          <a:xfrm>
            <a:off x="6232086" y="3904965"/>
            <a:ext cx="4441636" cy="2830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E1FD14FD-17BF-ADDE-7BAF-ADAE500F07B9}"/>
              </a:ext>
            </a:extLst>
          </p:cNvPr>
          <p:cNvGrpSpPr/>
          <p:nvPr/>
        </p:nvGrpSpPr>
        <p:grpSpPr>
          <a:xfrm>
            <a:off x="-1111269" y="-1"/>
            <a:ext cx="5526743" cy="6974109"/>
            <a:chOff x="-1756229" y="-1"/>
            <a:chExt cx="8472453" cy="6974109"/>
          </a:xfrm>
        </p:grpSpPr>
        <p:sp>
          <p:nvSpPr>
            <p:cNvPr id="1035" name="Rectangle: Rounded Corners 1034">
              <a:extLst>
                <a:ext uri="{FF2B5EF4-FFF2-40B4-BE49-F238E27FC236}">
                  <a16:creationId xmlns:a16="http://schemas.microsoft.com/office/drawing/2014/main" id="{3CC580F1-93C1-5DBE-E4D5-E53568FC7D52}"/>
                </a:ext>
              </a:extLst>
            </p:cNvPr>
            <p:cNvSpPr/>
            <p:nvPr/>
          </p:nvSpPr>
          <p:spPr>
            <a:xfrm>
              <a:off x="-1756229" y="-1"/>
              <a:ext cx="7785269" cy="6974109"/>
            </a:xfrm>
            <a:prstGeom prst="roundRect">
              <a:avLst>
                <a:gd name="adj" fmla="val 8199"/>
              </a:avLst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036" name="Rectangle: Rounded Corners 1035">
              <a:extLst>
                <a:ext uri="{FF2B5EF4-FFF2-40B4-BE49-F238E27FC236}">
                  <a16:creationId xmlns:a16="http://schemas.microsoft.com/office/drawing/2014/main" id="{47D9B35A-95EF-95F5-DF57-2820D5150B9E}"/>
                </a:ext>
              </a:extLst>
            </p:cNvPr>
            <p:cNvSpPr/>
            <p:nvPr/>
          </p:nvSpPr>
          <p:spPr>
            <a:xfrm>
              <a:off x="5328107" y="2062091"/>
              <a:ext cx="1388117" cy="1312116"/>
            </a:xfrm>
            <a:prstGeom prst="roundRect">
              <a:avLst/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8F649DB-70F8-AE07-24EB-A909310167DC}"/>
              </a:ext>
            </a:extLst>
          </p:cNvPr>
          <p:cNvGrpSpPr/>
          <p:nvPr/>
        </p:nvGrpSpPr>
        <p:grpSpPr>
          <a:xfrm>
            <a:off x="-11614893" y="353905"/>
            <a:ext cx="9161893" cy="6844817"/>
            <a:chOff x="3333007" y="353905"/>
            <a:chExt cx="9161893" cy="684481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28DD07D-6E42-FC9A-4309-62D011E5B806}"/>
                </a:ext>
              </a:extLst>
            </p:cNvPr>
            <p:cNvSpPr txBox="1"/>
            <p:nvPr/>
          </p:nvSpPr>
          <p:spPr>
            <a:xfrm>
              <a:off x="3333007" y="353905"/>
              <a:ext cx="9161893" cy="2464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b="1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Effects of a Good Warm-Up</a:t>
              </a:r>
              <a:endParaRPr lang="en-PH" sz="20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u="sng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Physical Benefits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1. Increased Heart Rate: Enhances blood circulation.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2. Higher Muscle Temperature: Leads to more forceful contractions and quicker relaxation.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3. Improved Joint Mobility: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CABDC8D-BEED-D045-F79C-F0991B05581A}"/>
                </a:ext>
              </a:extLst>
            </p:cNvPr>
            <p:cNvSpPr txBox="1"/>
            <p:nvPr/>
          </p:nvSpPr>
          <p:spPr>
            <a:xfrm>
              <a:off x="6381495" y="2388405"/>
              <a:ext cx="5837758" cy="19943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-34290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dirty="0">
                  <a:latin typeface="Bahnschrift Light SemiCondensed" panose="020B0502040204020203" pitchFamily="34" charset="0"/>
                  <a:cs typeface="Times New Roman" panose="02020603050405020304" pitchFamily="18" charset="0"/>
                </a:rPr>
                <a:t>Reduces the risk of injuries.</a:t>
              </a:r>
            </a:p>
            <a:p>
              <a:pPr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dirty="0">
                  <a:latin typeface="Bahnschrift Light SemiCondensed" panose="020B0502040204020203" pitchFamily="34" charset="0"/>
                  <a:cs typeface="Times New Roman" panose="02020603050405020304" pitchFamily="18" charset="0"/>
                </a:rPr>
                <a:t>Mental Benefits</a:t>
              </a:r>
            </a:p>
            <a:p>
              <a:pPr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dirty="0">
                  <a:latin typeface="Bahnschrift Light SemiCondensed" panose="020B0502040204020203" pitchFamily="34" charset="0"/>
                  <a:cs typeface="Times New Roman" panose="02020603050405020304" pitchFamily="18" charset="0"/>
                </a:rPr>
                <a:t>Increased Mental Readiness: Prepares the mind for 	the activity ahead.</a:t>
              </a:r>
            </a:p>
            <a:p>
              <a:endParaRPr lang="en-PH" dirty="0">
                <a:latin typeface="Bahnschrift Light SemiCondensed" panose="020B0502040204020203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4616AA4-BA25-15F5-B6D1-1B64203F8322}"/>
                </a:ext>
              </a:extLst>
            </p:cNvPr>
            <p:cNvSpPr txBox="1"/>
            <p:nvPr/>
          </p:nvSpPr>
          <p:spPr>
            <a:xfrm>
              <a:off x="3401668" y="3980405"/>
              <a:ext cx="8483182" cy="3218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b="1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Case Study: Effective Warm-Up in Sports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i="1" u="sng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Study by Silva et al. (2018)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i="1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Findings</a:t>
              </a:r>
              <a:r>
                <a:rPr lang="en-PH" sz="2000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10-minute active warm-up with gradual intensity increase.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i="1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Recommendation</a:t>
              </a:r>
              <a:r>
                <a:rPr lang="en-PH" sz="2000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Use heated garments to maintain muscle temperature post warm-up.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	Example Application: Soccer players perform dynamic stretches 	followed by sprints to simulate game conditions.</a:t>
              </a:r>
            </a:p>
            <a:p>
              <a:endParaRPr lang="en-PH" sz="2000" dirty="0">
                <a:latin typeface="Bahnschrift Light SemiCondensed" panose="020B0502040204020203" pitchFamily="34" charset="0"/>
              </a:endParaRPr>
            </a:p>
          </p:txBody>
        </p:sp>
      </p:grp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6B32E213-781D-4221-1BFD-529BB649A4A4}"/>
              </a:ext>
            </a:extLst>
          </p:cNvPr>
          <p:cNvGrpSpPr/>
          <p:nvPr/>
        </p:nvGrpSpPr>
        <p:grpSpPr>
          <a:xfrm>
            <a:off x="-1461179" y="8620"/>
            <a:ext cx="4870240" cy="6974109"/>
            <a:chOff x="-1756229" y="8620"/>
            <a:chExt cx="7466040" cy="6974109"/>
          </a:xfrm>
        </p:grpSpPr>
        <p:sp>
          <p:nvSpPr>
            <p:cNvPr id="1038" name="Rectangle: Rounded Corners 1037">
              <a:extLst>
                <a:ext uri="{FF2B5EF4-FFF2-40B4-BE49-F238E27FC236}">
                  <a16:creationId xmlns:a16="http://schemas.microsoft.com/office/drawing/2014/main" id="{7CB52E40-8425-44DB-4AED-3C5DBE521B85}"/>
                </a:ext>
              </a:extLst>
            </p:cNvPr>
            <p:cNvSpPr/>
            <p:nvPr/>
          </p:nvSpPr>
          <p:spPr>
            <a:xfrm>
              <a:off x="-1756229" y="8620"/>
              <a:ext cx="6931936" cy="6974109"/>
            </a:xfrm>
            <a:prstGeom prst="roundRect">
              <a:avLst>
                <a:gd name="adj" fmla="val 8199"/>
              </a:avLst>
            </a:prstGeom>
            <a:solidFill>
              <a:srgbClr val="6666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039" name="Rectangle: Rounded Corners 1038">
              <a:extLst>
                <a:ext uri="{FF2B5EF4-FFF2-40B4-BE49-F238E27FC236}">
                  <a16:creationId xmlns:a16="http://schemas.microsoft.com/office/drawing/2014/main" id="{A697A032-2036-AC4B-1980-49142D8A7A83}"/>
                </a:ext>
              </a:extLst>
            </p:cNvPr>
            <p:cNvSpPr/>
            <p:nvPr/>
          </p:nvSpPr>
          <p:spPr>
            <a:xfrm>
              <a:off x="4321694" y="3542116"/>
              <a:ext cx="1388117" cy="1312116"/>
            </a:xfrm>
            <a:prstGeom prst="roundRect">
              <a:avLst/>
            </a:prstGeom>
            <a:solidFill>
              <a:srgbClr val="66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970437F8-F8A8-948D-3830-875E4644CED2}"/>
              </a:ext>
            </a:extLst>
          </p:cNvPr>
          <p:cNvGrpSpPr/>
          <p:nvPr/>
        </p:nvGrpSpPr>
        <p:grpSpPr>
          <a:xfrm>
            <a:off x="-1756229" y="8619"/>
            <a:ext cx="4316668" cy="6974109"/>
            <a:chOff x="-1756229" y="8619"/>
            <a:chExt cx="6617418" cy="6974109"/>
          </a:xfrm>
        </p:grpSpPr>
        <p:sp>
          <p:nvSpPr>
            <p:cNvPr id="1041" name="Rectangle: Rounded Corners 1040">
              <a:extLst>
                <a:ext uri="{FF2B5EF4-FFF2-40B4-BE49-F238E27FC236}">
                  <a16:creationId xmlns:a16="http://schemas.microsoft.com/office/drawing/2014/main" id="{47DC7A3C-D1D6-926B-3150-A8F3210D60D4}"/>
                </a:ext>
              </a:extLst>
            </p:cNvPr>
            <p:cNvSpPr/>
            <p:nvPr/>
          </p:nvSpPr>
          <p:spPr>
            <a:xfrm>
              <a:off x="-1756229" y="8619"/>
              <a:ext cx="5923360" cy="6974109"/>
            </a:xfrm>
            <a:prstGeom prst="roundRect">
              <a:avLst>
                <a:gd name="adj" fmla="val 8199"/>
              </a:avLst>
            </a:prstGeom>
            <a:solidFill>
              <a:srgbClr val="9933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042" name="Rectangle: Rounded Corners 1041">
              <a:extLst>
                <a:ext uri="{FF2B5EF4-FFF2-40B4-BE49-F238E27FC236}">
                  <a16:creationId xmlns:a16="http://schemas.microsoft.com/office/drawing/2014/main" id="{A1D0316A-D247-2AF3-A79C-54F554E28EEA}"/>
                </a:ext>
              </a:extLst>
            </p:cNvPr>
            <p:cNvSpPr/>
            <p:nvPr/>
          </p:nvSpPr>
          <p:spPr>
            <a:xfrm>
              <a:off x="3473072" y="5022141"/>
              <a:ext cx="1388117" cy="1312116"/>
            </a:xfrm>
            <a:prstGeom prst="roundRect">
              <a:avLst/>
            </a:prstGeom>
            <a:solidFill>
              <a:srgbClr val="99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13282702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5CB5422-B9AC-4592-24A4-0DE6D26B9E6C}"/>
              </a:ext>
            </a:extLst>
          </p:cNvPr>
          <p:cNvSpPr/>
          <p:nvPr/>
        </p:nvSpPr>
        <p:spPr>
          <a:xfrm>
            <a:off x="-1756229" y="-802366"/>
            <a:ext cx="15704457" cy="9368971"/>
          </a:xfrm>
          <a:prstGeom prst="round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41AA64C-8EF9-2BA6-97FD-F7BBC2FC2AD8}"/>
              </a:ext>
            </a:extLst>
          </p:cNvPr>
          <p:cNvGrpSpPr/>
          <p:nvPr/>
        </p:nvGrpSpPr>
        <p:grpSpPr>
          <a:xfrm>
            <a:off x="-713118" y="0"/>
            <a:ext cx="15561232" cy="6974109"/>
            <a:chOff x="-1603829" y="0"/>
            <a:chExt cx="9179281" cy="697410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454703C-8683-31AF-71F8-38EBA23D9EAE}"/>
                </a:ext>
              </a:extLst>
            </p:cNvPr>
            <p:cNvSpPr/>
            <p:nvPr/>
          </p:nvSpPr>
          <p:spPr>
            <a:xfrm>
              <a:off x="-1603829" y="0"/>
              <a:ext cx="8641445" cy="6974109"/>
            </a:xfrm>
            <a:prstGeom prst="roundRect">
              <a:avLst>
                <a:gd name="adj" fmla="val 8199"/>
              </a:avLst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73915AC-36EA-48EC-75BE-03050A625851}"/>
                </a:ext>
              </a:extLst>
            </p:cNvPr>
            <p:cNvSpPr/>
            <p:nvPr/>
          </p:nvSpPr>
          <p:spPr>
            <a:xfrm>
              <a:off x="6187335" y="612353"/>
              <a:ext cx="1388117" cy="1312116"/>
            </a:xfrm>
            <a:prstGeom prst="roundRect">
              <a:avLst/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AA6D6E4E-C840-B610-839D-9DE308F36E42}"/>
              </a:ext>
            </a:extLst>
          </p:cNvPr>
          <p:cNvSpPr txBox="1"/>
          <p:nvPr/>
        </p:nvSpPr>
        <p:spPr>
          <a:xfrm>
            <a:off x="4994255" y="338170"/>
            <a:ext cx="6917298" cy="3327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 Warm-Up Techniques</a:t>
            </a:r>
            <a:endParaRPr lang="en-PH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Purpose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Actively warms up the body through movement.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Improves joint mobility and muscle temperature.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Examples: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Arm Circles: Increases shoulder mobility.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 Knees: Activates the hip flexors and increases heart rate.</a:t>
            </a:r>
          </a:p>
        </p:txBody>
      </p:sp>
      <p:pic>
        <p:nvPicPr>
          <p:cNvPr id="25" name="Picture 2" descr="High Knees: Benefits, Muscles Worked, and How-To">
            <a:extLst>
              <a:ext uri="{FF2B5EF4-FFF2-40B4-BE49-F238E27FC236}">
                <a16:creationId xmlns:a16="http://schemas.microsoft.com/office/drawing/2014/main" id="{91DC8E3F-62AF-4D79-165E-80DCA23AED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952"/>
          <a:stretch/>
        </p:blipFill>
        <p:spPr bwMode="auto">
          <a:xfrm>
            <a:off x="6232086" y="3904965"/>
            <a:ext cx="4441636" cy="2830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4D9DEC8C-1DD2-AC0F-BF54-E422FB2585BF}"/>
              </a:ext>
            </a:extLst>
          </p:cNvPr>
          <p:cNvGrpSpPr/>
          <p:nvPr/>
        </p:nvGrpSpPr>
        <p:grpSpPr>
          <a:xfrm>
            <a:off x="-1111269" y="-1"/>
            <a:ext cx="15551443" cy="6974109"/>
            <a:chOff x="-1111269" y="-1"/>
            <a:chExt cx="15551443" cy="6974109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8626D467-F176-36ED-7315-8DF6121CBA80}"/>
                </a:ext>
              </a:extLst>
            </p:cNvPr>
            <p:cNvSpPr/>
            <p:nvPr/>
          </p:nvSpPr>
          <p:spPr>
            <a:xfrm>
              <a:off x="-1111269" y="-1"/>
              <a:ext cx="14290096" cy="6974109"/>
            </a:xfrm>
            <a:prstGeom prst="roundRect">
              <a:avLst>
                <a:gd name="adj" fmla="val 8199"/>
              </a:avLst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DF0F8524-291C-4A6E-53AF-DC6692A3FBF6}"/>
                </a:ext>
              </a:extLst>
            </p:cNvPr>
            <p:cNvSpPr/>
            <p:nvPr/>
          </p:nvSpPr>
          <p:spPr>
            <a:xfrm>
              <a:off x="11892243" y="2062091"/>
              <a:ext cx="2547931" cy="1312116"/>
            </a:xfrm>
            <a:prstGeom prst="roundRect">
              <a:avLst/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182201B-C4DB-77E0-9F61-5893902B52D9}"/>
              </a:ext>
            </a:extLst>
          </p:cNvPr>
          <p:cNvGrpSpPr/>
          <p:nvPr/>
        </p:nvGrpSpPr>
        <p:grpSpPr>
          <a:xfrm>
            <a:off x="3333007" y="353905"/>
            <a:ext cx="9161893" cy="6844817"/>
            <a:chOff x="3333007" y="353905"/>
            <a:chExt cx="9161893" cy="6844817"/>
          </a:xfrm>
        </p:grpSpPr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D9025A7A-50CA-398A-30C7-6DACC267CB4C}"/>
                </a:ext>
              </a:extLst>
            </p:cNvPr>
            <p:cNvSpPr txBox="1"/>
            <p:nvPr/>
          </p:nvSpPr>
          <p:spPr>
            <a:xfrm>
              <a:off x="3333007" y="353905"/>
              <a:ext cx="9161893" cy="2464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b="1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Effects of a Good Warm-Up</a:t>
              </a:r>
              <a:endParaRPr lang="en-PH" sz="20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u="sng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Physical Benefits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1. Increased Heart Rate: Enhances blood circulation.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2. Higher Muscle Temperature: Leads to more forceful contractions and quicker relaxation.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3. Improved Joint Mobility: </a:t>
              </a:r>
            </a:p>
          </p:txBody>
        </p: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8334A264-C4CB-4068-4BBD-0FD141525E0E}"/>
                </a:ext>
              </a:extLst>
            </p:cNvPr>
            <p:cNvSpPr txBox="1"/>
            <p:nvPr/>
          </p:nvSpPr>
          <p:spPr>
            <a:xfrm>
              <a:off x="6381495" y="2388405"/>
              <a:ext cx="5837758" cy="19943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-34290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dirty="0">
                  <a:latin typeface="Bahnschrift Light SemiCondensed" panose="020B0502040204020203" pitchFamily="34" charset="0"/>
                  <a:cs typeface="Times New Roman" panose="02020603050405020304" pitchFamily="18" charset="0"/>
                </a:rPr>
                <a:t>Reduces the risk of injuries.</a:t>
              </a:r>
            </a:p>
            <a:p>
              <a:pPr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dirty="0">
                  <a:latin typeface="Bahnschrift Light SemiCondensed" panose="020B0502040204020203" pitchFamily="34" charset="0"/>
                  <a:cs typeface="Times New Roman" panose="02020603050405020304" pitchFamily="18" charset="0"/>
                </a:rPr>
                <a:t>Mental Benefits</a:t>
              </a:r>
            </a:p>
            <a:p>
              <a:pPr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dirty="0">
                  <a:latin typeface="Bahnschrift Light SemiCondensed" panose="020B0502040204020203" pitchFamily="34" charset="0"/>
                  <a:cs typeface="Times New Roman" panose="02020603050405020304" pitchFamily="18" charset="0"/>
                </a:rPr>
                <a:t>Increased Mental Readiness: Prepares the mind for 	the activity ahead.</a:t>
              </a:r>
            </a:p>
            <a:p>
              <a:endParaRPr lang="en-PH" dirty="0">
                <a:latin typeface="Bahnschrift Light SemiCondensed" panose="020B0502040204020203" pitchFamily="34" charset="0"/>
              </a:endParaRPr>
            </a:p>
          </p:txBody>
        </p:sp>
        <p:sp>
          <p:nvSpPr>
            <p:cNvPr id="1029" name="TextBox 1028">
              <a:extLst>
                <a:ext uri="{FF2B5EF4-FFF2-40B4-BE49-F238E27FC236}">
                  <a16:creationId xmlns:a16="http://schemas.microsoft.com/office/drawing/2014/main" id="{8DD51E7C-731B-5F08-5E69-A47D26BF1F54}"/>
                </a:ext>
              </a:extLst>
            </p:cNvPr>
            <p:cNvSpPr txBox="1"/>
            <p:nvPr/>
          </p:nvSpPr>
          <p:spPr>
            <a:xfrm>
              <a:off x="3401668" y="3980405"/>
              <a:ext cx="8483182" cy="3218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b="1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Case Study: Effective Warm-Up in Sports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i="1" u="sng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Study by Silva et al. (2018)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i="1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Findings</a:t>
              </a:r>
              <a:r>
                <a:rPr lang="en-PH" sz="2000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10-minute active warm-up with gradual intensity increase.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i="1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Recommendation</a:t>
              </a:r>
              <a:r>
                <a:rPr lang="en-PH" sz="2000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Use heated garments to maintain muscle temperature post warm-up.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	Example Application: Soccer players perform dynamic stretches 	followed by sprints to simulate game conditions.</a:t>
              </a:r>
            </a:p>
            <a:p>
              <a:endParaRPr lang="en-PH" sz="2000" dirty="0">
                <a:latin typeface="Bahnschrift Light SemiCondensed" panose="020B0502040204020203" pitchFamily="34" charset="0"/>
              </a:endParaRPr>
            </a:p>
          </p:txBody>
        </p:sp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B621C356-B103-F5A6-C966-1D4CEFD9587E}"/>
              </a:ext>
            </a:extLst>
          </p:cNvPr>
          <p:cNvGrpSpPr/>
          <p:nvPr/>
        </p:nvGrpSpPr>
        <p:grpSpPr>
          <a:xfrm>
            <a:off x="-1461179" y="8620"/>
            <a:ext cx="4870240" cy="6974109"/>
            <a:chOff x="-1756229" y="8620"/>
            <a:chExt cx="7466040" cy="6974109"/>
          </a:xfrm>
        </p:grpSpPr>
        <p:sp>
          <p:nvSpPr>
            <p:cNvPr id="1031" name="Rectangle: Rounded Corners 1030">
              <a:extLst>
                <a:ext uri="{FF2B5EF4-FFF2-40B4-BE49-F238E27FC236}">
                  <a16:creationId xmlns:a16="http://schemas.microsoft.com/office/drawing/2014/main" id="{943E59D7-1D90-DE58-8B9D-4FD7AD125F8B}"/>
                </a:ext>
              </a:extLst>
            </p:cNvPr>
            <p:cNvSpPr/>
            <p:nvPr/>
          </p:nvSpPr>
          <p:spPr>
            <a:xfrm>
              <a:off x="-1756229" y="8620"/>
              <a:ext cx="6931936" cy="6974109"/>
            </a:xfrm>
            <a:prstGeom prst="roundRect">
              <a:avLst>
                <a:gd name="adj" fmla="val 8199"/>
              </a:avLst>
            </a:prstGeom>
            <a:solidFill>
              <a:srgbClr val="6666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032" name="Rectangle: Rounded Corners 1031">
              <a:extLst>
                <a:ext uri="{FF2B5EF4-FFF2-40B4-BE49-F238E27FC236}">
                  <a16:creationId xmlns:a16="http://schemas.microsoft.com/office/drawing/2014/main" id="{5A6A2B0C-04E9-5096-86C0-AAB510889471}"/>
                </a:ext>
              </a:extLst>
            </p:cNvPr>
            <p:cNvSpPr/>
            <p:nvPr/>
          </p:nvSpPr>
          <p:spPr>
            <a:xfrm>
              <a:off x="4321694" y="3542116"/>
              <a:ext cx="1388117" cy="1312116"/>
            </a:xfrm>
            <a:prstGeom prst="roundRect">
              <a:avLst/>
            </a:prstGeom>
            <a:solidFill>
              <a:srgbClr val="66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1610EC3E-8D5F-D2D3-B308-AB1385C8F304}"/>
              </a:ext>
            </a:extLst>
          </p:cNvPr>
          <p:cNvGrpSpPr/>
          <p:nvPr/>
        </p:nvGrpSpPr>
        <p:grpSpPr>
          <a:xfrm>
            <a:off x="-11051012" y="506305"/>
            <a:ext cx="9036756" cy="6149224"/>
            <a:chOff x="2855488" y="506305"/>
            <a:chExt cx="9036756" cy="6149224"/>
          </a:xfrm>
        </p:grpSpPr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586D0A98-53A2-F7D2-A9FC-0A57B223AEF2}"/>
                </a:ext>
              </a:extLst>
            </p:cNvPr>
            <p:cNvSpPr txBox="1"/>
            <p:nvPr/>
          </p:nvSpPr>
          <p:spPr>
            <a:xfrm>
              <a:off x="2855488" y="506305"/>
              <a:ext cx="9036756" cy="33989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b="1" dirty="0">
                  <a:solidFill>
                    <a:schemeClr val="bg1"/>
                  </a:solidFill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Cool-Down </a:t>
              </a:r>
              <a:r>
                <a:rPr lang="en-PH" sz="2000" b="1" dirty="0">
                  <a:solidFill>
                    <a:schemeClr val="bg1"/>
                  </a:solidFill>
                  <a:latin typeface="Bahnschrift Light SemiCondensed" panose="020B0502040204020203" pitchFamily="34" charset="0"/>
                  <a:cs typeface="Times New Roman" panose="02020603050405020304" pitchFamily="18" charset="0"/>
                </a:rPr>
                <a:t>and Flexibility Training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solidFill>
                    <a:schemeClr val="bg1"/>
                  </a:solidFill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Cool down is the g</a:t>
              </a:r>
              <a:r>
                <a:rPr lang="en-PH" sz="2000" dirty="0">
                  <a:solidFill>
                    <a:schemeClr val="bg1"/>
                  </a:solidFill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radual reduction of exercise intensity to return to resting state.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endParaRPr lang="en-PH" sz="2000" dirty="0">
                <a:solidFill>
                  <a:schemeClr val="bg1"/>
                </a:solidFill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b="1" dirty="0">
                  <a:solidFill>
                    <a:schemeClr val="bg1"/>
                  </a:solidFill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Cool-Down Techniques</a:t>
              </a:r>
            </a:p>
            <a:p>
              <a:pPr marL="285750"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u="sng" dirty="0">
                  <a:solidFill>
                    <a:schemeClr val="bg1"/>
                  </a:solidFill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Static Stretching</a:t>
              </a:r>
              <a:r>
                <a:rPr lang="en-PH" sz="2000" dirty="0">
                  <a:solidFill>
                    <a:schemeClr val="bg1"/>
                  </a:solidFill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Holding a stretch for 20-30 seconds (e.g., hamstring stretch).</a:t>
              </a:r>
            </a:p>
            <a:p>
              <a:pPr marL="285750"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u="sng" dirty="0">
                  <a:solidFill>
                    <a:schemeClr val="bg1"/>
                  </a:solidFill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Flexibility Training</a:t>
              </a:r>
              <a:r>
                <a:rPr lang="en-PH" sz="2000" dirty="0">
                  <a:solidFill>
                    <a:schemeClr val="bg1"/>
                  </a:solidFill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Improves joint range of motion through controlled stretching.</a:t>
              </a:r>
            </a:p>
            <a:p>
              <a:pPr marL="285750"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endParaRPr lang="en-PH" sz="2000" dirty="0">
                <a:solidFill>
                  <a:schemeClr val="bg1"/>
                </a:solidFill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endParaRPr lang="en-PH" dirty="0"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1041" name="Picture 1040" descr="5 Huge Benefits of Stretching: Learn the Advantages of Flexibility">
              <a:extLst>
                <a:ext uri="{FF2B5EF4-FFF2-40B4-BE49-F238E27FC236}">
                  <a16:creationId xmlns:a16="http://schemas.microsoft.com/office/drawing/2014/main" id="{F486F3E1-70DD-E2ED-B64B-5D0D94854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5639" y="3823547"/>
              <a:ext cx="4453521" cy="28319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AD281678-B950-0F94-D87F-392E05D53AE4}"/>
              </a:ext>
            </a:extLst>
          </p:cNvPr>
          <p:cNvGrpSpPr/>
          <p:nvPr/>
        </p:nvGrpSpPr>
        <p:grpSpPr>
          <a:xfrm>
            <a:off x="-1756229" y="8619"/>
            <a:ext cx="4316668" cy="6974109"/>
            <a:chOff x="-1756229" y="8619"/>
            <a:chExt cx="6617418" cy="6974109"/>
          </a:xfrm>
        </p:grpSpPr>
        <p:sp>
          <p:nvSpPr>
            <p:cNvPr id="1043" name="Rectangle: Rounded Corners 1042">
              <a:extLst>
                <a:ext uri="{FF2B5EF4-FFF2-40B4-BE49-F238E27FC236}">
                  <a16:creationId xmlns:a16="http://schemas.microsoft.com/office/drawing/2014/main" id="{4A5270B9-B296-D3D4-8653-9A6A4F040599}"/>
                </a:ext>
              </a:extLst>
            </p:cNvPr>
            <p:cNvSpPr/>
            <p:nvPr/>
          </p:nvSpPr>
          <p:spPr>
            <a:xfrm>
              <a:off x="-1756229" y="8619"/>
              <a:ext cx="5923360" cy="6974109"/>
            </a:xfrm>
            <a:prstGeom prst="roundRect">
              <a:avLst>
                <a:gd name="adj" fmla="val 8199"/>
              </a:avLst>
            </a:prstGeom>
            <a:solidFill>
              <a:srgbClr val="9933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044" name="Rectangle: Rounded Corners 1043">
              <a:extLst>
                <a:ext uri="{FF2B5EF4-FFF2-40B4-BE49-F238E27FC236}">
                  <a16:creationId xmlns:a16="http://schemas.microsoft.com/office/drawing/2014/main" id="{DD35D0EB-6B35-B9CC-8C79-21220232F207}"/>
                </a:ext>
              </a:extLst>
            </p:cNvPr>
            <p:cNvSpPr/>
            <p:nvPr/>
          </p:nvSpPr>
          <p:spPr>
            <a:xfrm>
              <a:off x="3473072" y="5022141"/>
              <a:ext cx="1388117" cy="1312116"/>
            </a:xfrm>
            <a:prstGeom prst="roundRect">
              <a:avLst/>
            </a:prstGeom>
            <a:solidFill>
              <a:srgbClr val="99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28807824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5CB5422-B9AC-4592-24A4-0DE6D26B9E6C}"/>
              </a:ext>
            </a:extLst>
          </p:cNvPr>
          <p:cNvSpPr/>
          <p:nvPr/>
        </p:nvSpPr>
        <p:spPr>
          <a:xfrm>
            <a:off x="-1756229" y="-802366"/>
            <a:ext cx="15704457" cy="9368971"/>
          </a:xfrm>
          <a:prstGeom prst="round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41AA64C-8EF9-2BA6-97FD-F7BBC2FC2AD8}"/>
              </a:ext>
            </a:extLst>
          </p:cNvPr>
          <p:cNvGrpSpPr/>
          <p:nvPr/>
        </p:nvGrpSpPr>
        <p:grpSpPr>
          <a:xfrm>
            <a:off x="-713118" y="0"/>
            <a:ext cx="15561232" cy="6974109"/>
            <a:chOff x="-1603829" y="0"/>
            <a:chExt cx="9179281" cy="697410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454703C-8683-31AF-71F8-38EBA23D9EAE}"/>
                </a:ext>
              </a:extLst>
            </p:cNvPr>
            <p:cNvSpPr/>
            <p:nvPr/>
          </p:nvSpPr>
          <p:spPr>
            <a:xfrm>
              <a:off x="-1603829" y="0"/>
              <a:ext cx="8641445" cy="6974109"/>
            </a:xfrm>
            <a:prstGeom prst="roundRect">
              <a:avLst>
                <a:gd name="adj" fmla="val 8199"/>
              </a:avLst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73915AC-36EA-48EC-75BE-03050A625851}"/>
                </a:ext>
              </a:extLst>
            </p:cNvPr>
            <p:cNvSpPr/>
            <p:nvPr/>
          </p:nvSpPr>
          <p:spPr>
            <a:xfrm>
              <a:off x="6187335" y="612353"/>
              <a:ext cx="1388117" cy="1312116"/>
            </a:xfrm>
            <a:prstGeom prst="roundRect">
              <a:avLst/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AA6D6E4E-C840-B610-839D-9DE308F36E42}"/>
              </a:ext>
            </a:extLst>
          </p:cNvPr>
          <p:cNvSpPr txBox="1"/>
          <p:nvPr/>
        </p:nvSpPr>
        <p:spPr>
          <a:xfrm>
            <a:off x="4994255" y="338170"/>
            <a:ext cx="6917298" cy="3327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 Warm-Up Techniques</a:t>
            </a:r>
            <a:endParaRPr lang="en-PH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Purpose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Actively warms up the body through movement.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Improves joint mobility and muscle temperature.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Examples: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Arm Circles: Increases shoulder mobility.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 Knees: Activates the hip flexors and increases heart rate.</a:t>
            </a:r>
          </a:p>
        </p:txBody>
      </p:sp>
      <p:pic>
        <p:nvPicPr>
          <p:cNvPr id="25" name="Picture 2" descr="High Knees: Benefits, Muscles Worked, and How-To">
            <a:extLst>
              <a:ext uri="{FF2B5EF4-FFF2-40B4-BE49-F238E27FC236}">
                <a16:creationId xmlns:a16="http://schemas.microsoft.com/office/drawing/2014/main" id="{91DC8E3F-62AF-4D79-165E-80DCA23AED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952"/>
          <a:stretch/>
        </p:blipFill>
        <p:spPr bwMode="auto">
          <a:xfrm>
            <a:off x="6232086" y="3904965"/>
            <a:ext cx="4441636" cy="2830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4D9DEC8C-1DD2-AC0F-BF54-E422FB2585BF}"/>
              </a:ext>
            </a:extLst>
          </p:cNvPr>
          <p:cNvGrpSpPr/>
          <p:nvPr/>
        </p:nvGrpSpPr>
        <p:grpSpPr>
          <a:xfrm>
            <a:off x="-1111269" y="-1"/>
            <a:ext cx="15551443" cy="6974109"/>
            <a:chOff x="-1111269" y="-1"/>
            <a:chExt cx="15551443" cy="6974109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8626D467-F176-36ED-7315-8DF6121CBA80}"/>
                </a:ext>
              </a:extLst>
            </p:cNvPr>
            <p:cNvSpPr/>
            <p:nvPr/>
          </p:nvSpPr>
          <p:spPr>
            <a:xfrm>
              <a:off x="-1111269" y="-1"/>
              <a:ext cx="14290096" cy="6974109"/>
            </a:xfrm>
            <a:prstGeom prst="roundRect">
              <a:avLst>
                <a:gd name="adj" fmla="val 8199"/>
              </a:avLst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DF0F8524-291C-4A6E-53AF-DC6692A3FBF6}"/>
                </a:ext>
              </a:extLst>
            </p:cNvPr>
            <p:cNvSpPr/>
            <p:nvPr/>
          </p:nvSpPr>
          <p:spPr>
            <a:xfrm>
              <a:off x="11892243" y="2062091"/>
              <a:ext cx="2547931" cy="1312116"/>
            </a:xfrm>
            <a:prstGeom prst="roundRect">
              <a:avLst/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182201B-C4DB-77E0-9F61-5893902B52D9}"/>
              </a:ext>
            </a:extLst>
          </p:cNvPr>
          <p:cNvGrpSpPr/>
          <p:nvPr/>
        </p:nvGrpSpPr>
        <p:grpSpPr>
          <a:xfrm>
            <a:off x="3333007" y="353905"/>
            <a:ext cx="9161893" cy="6844817"/>
            <a:chOff x="3333007" y="353905"/>
            <a:chExt cx="9161893" cy="6844817"/>
          </a:xfrm>
        </p:grpSpPr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D9025A7A-50CA-398A-30C7-6DACC267CB4C}"/>
                </a:ext>
              </a:extLst>
            </p:cNvPr>
            <p:cNvSpPr txBox="1"/>
            <p:nvPr/>
          </p:nvSpPr>
          <p:spPr>
            <a:xfrm>
              <a:off x="3333007" y="353905"/>
              <a:ext cx="9161893" cy="2464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Effects of a Good Warm-Up</a:t>
              </a:r>
              <a:endPara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- Physical Benefits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1. Increased Heart Rate: Enhances blood circulation.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2. Higher Muscle Temperature: Leads to more forceful contractions and quicker relaxation.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3. Improved Joint Mobility: </a:t>
              </a:r>
            </a:p>
          </p:txBody>
        </p: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8334A264-C4CB-4068-4BBD-0FD141525E0E}"/>
                </a:ext>
              </a:extLst>
            </p:cNvPr>
            <p:cNvSpPr txBox="1"/>
            <p:nvPr/>
          </p:nvSpPr>
          <p:spPr>
            <a:xfrm>
              <a:off x="6381495" y="2388405"/>
              <a:ext cx="5837758" cy="19943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-34290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Reduces the risk of injuries.</a:t>
              </a:r>
            </a:p>
            <a:p>
              <a:pPr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Mental Benefits</a:t>
              </a:r>
            </a:p>
            <a:p>
              <a:pPr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Increased Mental Readiness: Prepares the mind for 	the activity ahead.</a:t>
              </a:r>
            </a:p>
            <a:p>
              <a:endParaRPr lang="en-PH" dirty="0"/>
            </a:p>
          </p:txBody>
        </p:sp>
        <p:sp>
          <p:nvSpPr>
            <p:cNvPr id="1029" name="TextBox 1028">
              <a:extLst>
                <a:ext uri="{FF2B5EF4-FFF2-40B4-BE49-F238E27FC236}">
                  <a16:creationId xmlns:a16="http://schemas.microsoft.com/office/drawing/2014/main" id="{8DD51E7C-731B-5F08-5E69-A47D26BF1F54}"/>
                </a:ext>
              </a:extLst>
            </p:cNvPr>
            <p:cNvSpPr txBox="1"/>
            <p:nvPr/>
          </p:nvSpPr>
          <p:spPr>
            <a:xfrm>
              <a:off x="3401668" y="3980405"/>
              <a:ext cx="8483182" cy="3218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Case Study: Effective Warm-Up in Sports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i="1" u="sng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Study by Silva et al. (2018)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i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Findings</a:t>
              </a:r>
              <a:r>
                <a:rPr lang="en-PH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10-minute active warm-up with gradual intensity increase.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i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Recommendation</a:t>
              </a:r>
              <a:r>
                <a:rPr lang="en-PH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Use heated garments to maintain muscle temperature post warm-up.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	Example Application: Soccer players perform dynamic stretches 	followed by sprints to simulate game conditions.</a:t>
              </a:r>
            </a:p>
            <a:p>
              <a:endParaRPr lang="en-PH" sz="2000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02F9F38-8611-326B-48A7-87393739599D}"/>
              </a:ext>
            </a:extLst>
          </p:cNvPr>
          <p:cNvGrpSpPr/>
          <p:nvPr/>
        </p:nvGrpSpPr>
        <p:grpSpPr>
          <a:xfrm>
            <a:off x="-1461180" y="8620"/>
            <a:ext cx="15302363" cy="6974109"/>
            <a:chOff x="-1756229" y="8620"/>
            <a:chExt cx="7466040" cy="697410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858B6CD3-58CD-4954-59F9-00909131EF5E}"/>
                </a:ext>
              </a:extLst>
            </p:cNvPr>
            <p:cNvSpPr/>
            <p:nvPr/>
          </p:nvSpPr>
          <p:spPr>
            <a:xfrm>
              <a:off x="-1756229" y="8620"/>
              <a:ext cx="6931936" cy="6974109"/>
            </a:xfrm>
            <a:prstGeom prst="roundRect">
              <a:avLst>
                <a:gd name="adj" fmla="val 8199"/>
              </a:avLst>
            </a:prstGeom>
            <a:solidFill>
              <a:srgbClr val="6666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1D1E5380-9060-9536-93D5-DD34F1CFCE4A}"/>
                </a:ext>
              </a:extLst>
            </p:cNvPr>
            <p:cNvSpPr/>
            <p:nvPr/>
          </p:nvSpPr>
          <p:spPr>
            <a:xfrm>
              <a:off x="4321694" y="3542116"/>
              <a:ext cx="1388117" cy="1312116"/>
            </a:xfrm>
            <a:prstGeom prst="roundRect">
              <a:avLst/>
            </a:prstGeom>
            <a:solidFill>
              <a:srgbClr val="66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25AC807-B106-6EFC-5FD1-F9434D0FCBEC}"/>
              </a:ext>
            </a:extLst>
          </p:cNvPr>
          <p:cNvGrpSpPr/>
          <p:nvPr/>
        </p:nvGrpSpPr>
        <p:grpSpPr>
          <a:xfrm>
            <a:off x="2855488" y="506305"/>
            <a:ext cx="9036756" cy="6149224"/>
            <a:chOff x="2855488" y="506305"/>
            <a:chExt cx="9036756" cy="61492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B1876C8-7067-7CF1-489A-DB2C263860E7}"/>
                </a:ext>
              </a:extLst>
            </p:cNvPr>
            <p:cNvSpPr txBox="1"/>
            <p:nvPr/>
          </p:nvSpPr>
          <p:spPr>
            <a:xfrm>
              <a:off x="2855488" y="506305"/>
              <a:ext cx="9036756" cy="33989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b="1" dirty="0">
                  <a:solidFill>
                    <a:schemeClr val="bg1"/>
                  </a:solidFill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Cool-Down </a:t>
              </a:r>
              <a:r>
                <a:rPr lang="en-PH" sz="2000" b="1" dirty="0">
                  <a:solidFill>
                    <a:schemeClr val="bg1"/>
                  </a:solidFill>
                  <a:latin typeface="Bahnschrift Light SemiCondensed" panose="020B0502040204020203" pitchFamily="34" charset="0"/>
                  <a:cs typeface="Times New Roman" panose="02020603050405020304" pitchFamily="18" charset="0"/>
                </a:rPr>
                <a:t>and Flexibility Training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solidFill>
                    <a:schemeClr val="bg1"/>
                  </a:solidFill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Cool down is the g</a:t>
              </a:r>
              <a:r>
                <a:rPr lang="en-PH" sz="2000" dirty="0">
                  <a:solidFill>
                    <a:schemeClr val="bg1"/>
                  </a:solidFill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radual reduction of exercise intensity to return to resting state.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endParaRPr lang="en-PH" sz="2000" dirty="0">
                <a:solidFill>
                  <a:schemeClr val="bg1"/>
                </a:solidFill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b="1" dirty="0">
                  <a:solidFill>
                    <a:schemeClr val="bg1"/>
                  </a:solidFill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Cool-Down Techniques</a:t>
              </a:r>
            </a:p>
            <a:p>
              <a:pPr marL="285750"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u="sng" dirty="0">
                  <a:solidFill>
                    <a:schemeClr val="bg1"/>
                  </a:solidFill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Static Stretching</a:t>
              </a:r>
              <a:r>
                <a:rPr lang="en-PH" sz="2000" dirty="0">
                  <a:solidFill>
                    <a:schemeClr val="bg1"/>
                  </a:solidFill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Holding a stretch for 20-30 seconds (e.g., hamstring stretch).</a:t>
              </a:r>
            </a:p>
            <a:p>
              <a:pPr marL="285750"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u="sng" dirty="0">
                  <a:solidFill>
                    <a:schemeClr val="bg1"/>
                  </a:solidFill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Flexibility Training</a:t>
              </a:r>
              <a:r>
                <a:rPr lang="en-PH" sz="2000" dirty="0">
                  <a:solidFill>
                    <a:schemeClr val="bg1"/>
                  </a:solidFill>
                  <a:effectLst/>
                  <a:latin typeface="Bahnschrift Light SemiCondensed" panose="020B0502040204020203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Improves joint range of motion through controlled stretching.</a:t>
              </a:r>
            </a:p>
            <a:p>
              <a:pPr marL="285750"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endParaRPr lang="en-PH" sz="2000" dirty="0">
                <a:solidFill>
                  <a:schemeClr val="bg1"/>
                </a:solidFill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endParaRPr lang="en-PH" dirty="0"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Picture 6" descr="5 Huge Benefits of Stretching: Learn the Advantages of Flexibility">
              <a:extLst>
                <a:ext uri="{FF2B5EF4-FFF2-40B4-BE49-F238E27FC236}">
                  <a16:creationId xmlns:a16="http://schemas.microsoft.com/office/drawing/2014/main" id="{B45A2973-8D2D-F21A-5392-EEB8155C4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5639" y="3823547"/>
              <a:ext cx="4453521" cy="28319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AD281678-B950-0F94-D87F-392E05D53AE4}"/>
              </a:ext>
            </a:extLst>
          </p:cNvPr>
          <p:cNvGrpSpPr/>
          <p:nvPr/>
        </p:nvGrpSpPr>
        <p:grpSpPr>
          <a:xfrm>
            <a:off x="-1756229" y="8619"/>
            <a:ext cx="4316668" cy="6974109"/>
            <a:chOff x="-1756229" y="8619"/>
            <a:chExt cx="6617418" cy="6974109"/>
          </a:xfrm>
        </p:grpSpPr>
        <p:sp>
          <p:nvSpPr>
            <p:cNvPr id="1043" name="Rectangle: Rounded Corners 1042">
              <a:extLst>
                <a:ext uri="{FF2B5EF4-FFF2-40B4-BE49-F238E27FC236}">
                  <a16:creationId xmlns:a16="http://schemas.microsoft.com/office/drawing/2014/main" id="{4A5270B9-B296-D3D4-8653-9A6A4F040599}"/>
                </a:ext>
              </a:extLst>
            </p:cNvPr>
            <p:cNvSpPr/>
            <p:nvPr/>
          </p:nvSpPr>
          <p:spPr>
            <a:xfrm>
              <a:off x="-1756229" y="8619"/>
              <a:ext cx="5923360" cy="6974109"/>
            </a:xfrm>
            <a:prstGeom prst="roundRect">
              <a:avLst>
                <a:gd name="adj" fmla="val 8199"/>
              </a:avLst>
            </a:prstGeom>
            <a:solidFill>
              <a:srgbClr val="9933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044" name="Rectangle: Rounded Corners 1043">
              <a:extLst>
                <a:ext uri="{FF2B5EF4-FFF2-40B4-BE49-F238E27FC236}">
                  <a16:creationId xmlns:a16="http://schemas.microsoft.com/office/drawing/2014/main" id="{DD35D0EB-6B35-B9CC-8C79-21220232F207}"/>
                </a:ext>
              </a:extLst>
            </p:cNvPr>
            <p:cNvSpPr/>
            <p:nvPr/>
          </p:nvSpPr>
          <p:spPr>
            <a:xfrm>
              <a:off x="3473072" y="5022141"/>
              <a:ext cx="1388117" cy="1312116"/>
            </a:xfrm>
            <a:prstGeom prst="roundRect">
              <a:avLst/>
            </a:prstGeom>
            <a:solidFill>
              <a:srgbClr val="99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7A8A52B-E543-7185-B9C6-16356C2C4409}"/>
              </a:ext>
            </a:extLst>
          </p:cNvPr>
          <p:cNvSpPr txBox="1"/>
          <p:nvPr/>
        </p:nvSpPr>
        <p:spPr>
          <a:xfrm>
            <a:off x="-10805680" y="534868"/>
            <a:ext cx="9036756" cy="627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b="1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Types of Stretching Techniques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000" u="sng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Static Stretching</a:t>
            </a:r>
            <a:br>
              <a:rPr lang="en-PH" sz="2000" u="sng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PH" sz="2000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Example: Reaching down to touch toes and holding.</a:t>
            </a:r>
            <a:endParaRPr lang="en-PH" sz="2000" u="sng" dirty="0">
              <a:solidFill>
                <a:schemeClr val="bg1"/>
              </a:solidFill>
              <a:effectLst/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000" u="sng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Proprioceptive Neuromuscular Facilitation </a:t>
            </a:r>
            <a:r>
              <a:rPr lang="en-PH" sz="2000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(PNF)</a:t>
            </a:r>
            <a:br>
              <a:rPr lang="en-PH" sz="2000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PH" sz="2000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Combines static stretch and isometric stretching.</a:t>
            </a:r>
            <a:br>
              <a:rPr lang="en-PH" sz="2000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PH" sz="2000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Example: Partner-assisted hamstring stretch with resistance.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PH" sz="2000" dirty="0">
              <a:solidFill>
                <a:schemeClr val="bg1"/>
              </a:solidFill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b="1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Functional Core Assessment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u="sng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Purpose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000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Identifies limitations in mobility and flexibility.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u="sng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000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 in both warm-up routines and movement preparation.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 Example: Plank assessment to evaluate core stability and hip mobility.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PH" sz="2000" dirty="0">
              <a:solidFill>
                <a:schemeClr val="bg1"/>
              </a:solidFill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PH" sz="2000" dirty="0">
              <a:solidFill>
                <a:schemeClr val="bg1"/>
              </a:solidFill>
              <a:effectLst/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0372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C23702-98E2-42E8-962D-EC4D1E82E744}"/>
              </a:ext>
            </a:extLst>
          </p:cNvPr>
          <p:cNvSpPr/>
          <p:nvPr/>
        </p:nvSpPr>
        <p:spPr>
          <a:xfrm>
            <a:off x="-1756229" y="-802366"/>
            <a:ext cx="15704457" cy="9368971"/>
          </a:xfrm>
          <a:prstGeom prst="round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1" name="Picture 2" descr="Free Photo | Multiple yoga poses collage">
            <a:extLst>
              <a:ext uri="{FF2B5EF4-FFF2-40B4-BE49-F238E27FC236}">
                <a16:creationId xmlns:a16="http://schemas.microsoft.com/office/drawing/2014/main" id="{BED3047E-CEDA-E273-C829-61EBF995F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6315" y="-1510585"/>
            <a:ext cx="12984627" cy="9769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2D5BB28-F2BB-DE89-57C5-5C2210536430}"/>
              </a:ext>
            </a:extLst>
          </p:cNvPr>
          <p:cNvSpPr txBox="1"/>
          <p:nvPr/>
        </p:nvSpPr>
        <p:spPr>
          <a:xfrm>
            <a:off x="5260955" y="185770"/>
            <a:ext cx="6917298" cy="6376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1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Mobility Training</a:t>
            </a:r>
            <a:endParaRPr lang="en-PH" sz="2100" dirty="0">
              <a:effectLst/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- Enhances freedom of movement in joints.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- Reduces risk of injuries related to joint dysfunction.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PH" sz="21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Exercises</a:t>
            </a:r>
          </a:p>
          <a:p>
            <a:pPr marL="1257300" lvl="2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 stretching (e.g., leg swings)</a:t>
            </a:r>
          </a:p>
          <a:p>
            <a:pPr marL="1257300" lvl="2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Joint mobilization exercises (e.g., hip circles)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1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Warm-Up: Preparing the Body for Activity</a:t>
            </a:r>
            <a:endParaRPr lang="en-PH" sz="2100" dirty="0">
              <a:effectLst/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Preparatory exercises performed before engaging in more vigorous activities.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Activates the nervous, circulatory, and respiratory systems.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1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Types of Warm-Ups</a:t>
            </a:r>
            <a:endParaRPr lang="en-PH" sz="2100" dirty="0">
              <a:effectLst/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1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General Warm-Up</a:t>
            </a: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Low-intensity exercises like brisk walking or light jogging.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1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Specific Warm-Up</a:t>
            </a:r>
            <a:r>
              <a:rPr lang="en-PH" sz="21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Exercises that mimic the movements of the activity to be performed.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5E44D77-ED36-B45C-D5D6-71733690949B}"/>
              </a:ext>
            </a:extLst>
          </p:cNvPr>
          <p:cNvGrpSpPr/>
          <p:nvPr/>
        </p:nvGrpSpPr>
        <p:grpSpPr>
          <a:xfrm>
            <a:off x="-713118" y="0"/>
            <a:ext cx="15561232" cy="6974109"/>
            <a:chOff x="-1603829" y="0"/>
            <a:chExt cx="9179281" cy="6974109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12B988A8-B597-DB4A-BFB4-52164AD1121A}"/>
                </a:ext>
              </a:extLst>
            </p:cNvPr>
            <p:cNvSpPr/>
            <p:nvPr/>
          </p:nvSpPr>
          <p:spPr>
            <a:xfrm>
              <a:off x="-1603829" y="0"/>
              <a:ext cx="8641445" cy="6974109"/>
            </a:xfrm>
            <a:prstGeom prst="roundRect">
              <a:avLst>
                <a:gd name="adj" fmla="val 8199"/>
              </a:avLst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003A338-8DF7-E011-C6DA-FFF62DE55084}"/>
                </a:ext>
              </a:extLst>
            </p:cNvPr>
            <p:cNvSpPr/>
            <p:nvPr/>
          </p:nvSpPr>
          <p:spPr>
            <a:xfrm>
              <a:off x="6187335" y="612353"/>
              <a:ext cx="1388117" cy="1312116"/>
            </a:xfrm>
            <a:prstGeom prst="roundRect">
              <a:avLst/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FC36A58-7712-B537-B044-A45AE6F75F18}"/>
              </a:ext>
            </a:extLst>
          </p:cNvPr>
          <p:cNvSpPr txBox="1"/>
          <p:nvPr/>
        </p:nvSpPr>
        <p:spPr>
          <a:xfrm>
            <a:off x="5413355" y="338170"/>
            <a:ext cx="6917298" cy="2769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 Warm-Up Techniques</a:t>
            </a:r>
            <a:endParaRPr lang="en-PH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Purpose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Actively warms up the body through movement.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Improves joint mobility and muscle temperature.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H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Examples: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Arm Circles: Increases shoulder mobility.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 Knees: Activates the hip flexors and increases heart rate.</a:t>
            </a:r>
          </a:p>
        </p:txBody>
      </p:sp>
      <p:pic>
        <p:nvPicPr>
          <p:cNvPr id="1026" name="Picture 2" descr="High Knees: Benefits, Muscles Worked, and How-To">
            <a:extLst>
              <a:ext uri="{FF2B5EF4-FFF2-40B4-BE49-F238E27FC236}">
                <a16:creationId xmlns:a16="http://schemas.microsoft.com/office/drawing/2014/main" id="{F6E4D96E-0104-3139-FB2C-41B887E59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334" y="3293224"/>
            <a:ext cx="5044539" cy="2830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29DC1779-D530-4FB8-0DD0-C38D3882571E}"/>
              </a:ext>
            </a:extLst>
          </p:cNvPr>
          <p:cNvGrpSpPr/>
          <p:nvPr/>
        </p:nvGrpSpPr>
        <p:grpSpPr>
          <a:xfrm>
            <a:off x="-1111269" y="-1"/>
            <a:ext cx="15551443" cy="6974109"/>
            <a:chOff x="-1756229" y="-1"/>
            <a:chExt cx="8472453" cy="697410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8F515BB-E2D7-2ED0-5C6B-260C1C1A8A7E}"/>
                </a:ext>
              </a:extLst>
            </p:cNvPr>
            <p:cNvSpPr/>
            <p:nvPr/>
          </p:nvSpPr>
          <p:spPr>
            <a:xfrm>
              <a:off x="-1756229" y="-1"/>
              <a:ext cx="7785269" cy="6974109"/>
            </a:xfrm>
            <a:prstGeom prst="roundRect">
              <a:avLst>
                <a:gd name="adj" fmla="val 8199"/>
              </a:avLst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FCE3B55F-5739-827E-E517-E559D1ED533F}"/>
                </a:ext>
              </a:extLst>
            </p:cNvPr>
            <p:cNvSpPr/>
            <p:nvPr/>
          </p:nvSpPr>
          <p:spPr>
            <a:xfrm>
              <a:off x="5328107" y="2062091"/>
              <a:ext cx="1388117" cy="1312116"/>
            </a:xfrm>
            <a:prstGeom prst="roundRect">
              <a:avLst/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1025" name="TextBox 1024">
            <a:extLst>
              <a:ext uri="{FF2B5EF4-FFF2-40B4-BE49-F238E27FC236}">
                <a16:creationId xmlns:a16="http://schemas.microsoft.com/office/drawing/2014/main" id="{9BD0A7B3-E739-BD8F-C58A-A4FDB1975262}"/>
              </a:ext>
            </a:extLst>
          </p:cNvPr>
          <p:cNvSpPr txBox="1"/>
          <p:nvPr/>
        </p:nvSpPr>
        <p:spPr>
          <a:xfrm>
            <a:off x="3333007" y="353905"/>
            <a:ext cx="9769765" cy="2134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Effects of a Good Warm-Up</a:t>
            </a:r>
            <a:endParaRPr lang="en-PH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Physical Benefits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1. Increased Heart Rate: Enhances blood circulation.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2. Higher Muscle Temperature: Leads to more forceful contractions and quicker relaxation.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3. Improved Joint Mobility: </a:t>
            </a:r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B5D6BAF8-B92D-C828-C2D3-11AA910CDCCC}"/>
              </a:ext>
            </a:extLst>
          </p:cNvPr>
          <p:cNvSpPr txBox="1"/>
          <p:nvPr/>
        </p:nvSpPr>
        <p:spPr>
          <a:xfrm>
            <a:off x="6502400" y="2062091"/>
            <a:ext cx="5837758" cy="1994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Reduces the risk of injuries.</a:t>
            </a:r>
          </a:p>
          <a:p>
            <a:pPr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Mental Benefits</a:t>
            </a:r>
          </a:p>
          <a:p>
            <a:pPr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Increased Mental Readiness: Prepares the mind for 	the activity ahead.</a:t>
            </a:r>
          </a:p>
          <a:p>
            <a:endParaRPr lang="en-PH" dirty="0"/>
          </a:p>
        </p:txBody>
      </p:sp>
      <p:pic>
        <p:nvPicPr>
          <p:cNvPr id="1029" name="Picture 1028" descr="Does stretching between sets grow more muscle? | Bulk Blog">
            <a:extLst>
              <a:ext uri="{FF2B5EF4-FFF2-40B4-BE49-F238E27FC236}">
                <a16:creationId xmlns:a16="http://schemas.microsoft.com/office/drawing/2014/main" id="{42C75EB4-920B-E2EC-C15F-F836DB644F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221" y="3973364"/>
            <a:ext cx="4277075" cy="28543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1E5CF351-096F-9F7F-E5EA-E95790D0A3DE}"/>
              </a:ext>
            </a:extLst>
          </p:cNvPr>
          <p:cNvGrpSpPr/>
          <p:nvPr/>
        </p:nvGrpSpPr>
        <p:grpSpPr>
          <a:xfrm>
            <a:off x="-1461180" y="8620"/>
            <a:ext cx="15302363" cy="6974109"/>
            <a:chOff x="-1756229" y="8620"/>
            <a:chExt cx="7466040" cy="6974109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88936B7-61AE-A059-94B3-7C2874FEB96A}"/>
                </a:ext>
              </a:extLst>
            </p:cNvPr>
            <p:cNvSpPr/>
            <p:nvPr/>
          </p:nvSpPr>
          <p:spPr>
            <a:xfrm>
              <a:off x="-1756229" y="8620"/>
              <a:ext cx="6931936" cy="6974109"/>
            </a:xfrm>
            <a:prstGeom prst="roundRect">
              <a:avLst>
                <a:gd name="adj" fmla="val 8199"/>
              </a:avLst>
            </a:prstGeom>
            <a:solidFill>
              <a:srgbClr val="6666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6019775C-92A6-18C6-C70E-D3B7AFCAFBB1}"/>
                </a:ext>
              </a:extLst>
            </p:cNvPr>
            <p:cNvSpPr/>
            <p:nvPr/>
          </p:nvSpPr>
          <p:spPr>
            <a:xfrm>
              <a:off x="4321694" y="3542116"/>
              <a:ext cx="1388117" cy="1312116"/>
            </a:xfrm>
            <a:prstGeom prst="roundRect">
              <a:avLst/>
            </a:prstGeom>
            <a:solidFill>
              <a:srgbClr val="66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B22D9EF-E580-BBD7-0B3B-832899A427B3}"/>
              </a:ext>
            </a:extLst>
          </p:cNvPr>
          <p:cNvGrpSpPr/>
          <p:nvPr/>
        </p:nvGrpSpPr>
        <p:grpSpPr>
          <a:xfrm>
            <a:off x="2855488" y="506305"/>
            <a:ext cx="9036756" cy="6149224"/>
            <a:chOff x="2855488" y="506305"/>
            <a:chExt cx="9036756" cy="61492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AE2D3C-7FF9-8766-9190-03FF011A2EC1}"/>
                </a:ext>
              </a:extLst>
            </p:cNvPr>
            <p:cNvSpPr txBox="1"/>
            <p:nvPr/>
          </p:nvSpPr>
          <p:spPr>
            <a:xfrm>
              <a:off x="2855488" y="506305"/>
              <a:ext cx="9036756" cy="33989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Cool-Down </a:t>
              </a:r>
              <a:r>
                <a:rPr lang="en-PH" sz="2000" b="1" dirty="0">
                  <a:solidFill>
                    <a:schemeClr val="bg1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and Flexibility Training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Cool down is the g</a:t>
              </a:r>
              <a:r>
                <a:rPr lang="en-PH" sz="20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radual reduction of exercise intensity to return to resting state.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endParaRPr lang="en-PH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Cool-Down Techniques</a:t>
              </a:r>
            </a:p>
            <a:p>
              <a:pPr marL="285750"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u="sng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Static Stretching</a:t>
              </a:r>
              <a:r>
                <a:rPr lang="en-PH" sz="20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Holding a stretch for 20-30 seconds (e.g., hamstring stretch).</a:t>
              </a:r>
            </a:p>
            <a:p>
              <a:pPr marL="285750"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u="sng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Flexibility Training</a:t>
              </a:r>
              <a:r>
                <a:rPr lang="en-PH" sz="20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Improves joint range of motion through controlled stretching.</a:t>
              </a:r>
            </a:p>
            <a:p>
              <a:pPr marL="285750"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endParaRPr lang="en-PH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endParaRPr lang="en-PH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Picture 6" descr="5 Huge Benefits of Stretching: Learn the Advantages of Flexibility">
              <a:extLst>
                <a:ext uri="{FF2B5EF4-FFF2-40B4-BE49-F238E27FC236}">
                  <a16:creationId xmlns:a16="http://schemas.microsoft.com/office/drawing/2014/main" id="{FA95A874-FE31-0FAC-EB1D-5D16A1E05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5639" y="3823547"/>
              <a:ext cx="4453521" cy="28319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EF71F5F-49B1-27EA-1963-5987F5A9D650}"/>
              </a:ext>
            </a:extLst>
          </p:cNvPr>
          <p:cNvGrpSpPr/>
          <p:nvPr/>
        </p:nvGrpSpPr>
        <p:grpSpPr>
          <a:xfrm>
            <a:off x="-1756229" y="8619"/>
            <a:ext cx="16090724" cy="6974109"/>
            <a:chOff x="-1756229" y="8619"/>
            <a:chExt cx="16090724" cy="697410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D6B0396-FC39-154D-0C8D-50E5FE52D1D9}"/>
                </a:ext>
              </a:extLst>
            </p:cNvPr>
            <p:cNvSpPr/>
            <p:nvPr/>
          </p:nvSpPr>
          <p:spPr>
            <a:xfrm>
              <a:off x="-1756229" y="8619"/>
              <a:ext cx="14403072" cy="6974109"/>
            </a:xfrm>
            <a:prstGeom prst="roundRect">
              <a:avLst>
                <a:gd name="adj" fmla="val 8199"/>
              </a:avLst>
            </a:prstGeom>
            <a:solidFill>
              <a:srgbClr val="9933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73C0253-DF8B-BE55-8ECF-5B0ED01756CA}"/>
                </a:ext>
              </a:extLst>
            </p:cNvPr>
            <p:cNvSpPr/>
            <p:nvPr/>
          </p:nvSpPr>
          <p:spPr>
            <a:xfrm>
              <a:off x="10959189" y="5022141"/>
              <a:ext cx="3375306" cy="1312116"/>
            </a:xfrm>
            <a:prstGeom prst="roundRect">
              <a:avLst/>
            </a:prstGeom>
            <a:solidFill>
              <a:srgbClr val="99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917C728-E76A-28BB-6EE5-14C684BC1BCF}"/>
              </a:ext>
            </a:extLst>
          </p:cNvPr>
          <p:cNvSpPr txBox="1"/>
          <p:nvPr/>
        </p:nvSpPr>
        <p:spPr>
          <a:xfrm>
            <a:off x="1291070" y="534868"/>
            <a:ext cx="9036756" cy="627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b="1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Types of Stretching Techniques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000" u="sng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Static Stretching</a:t>
            </a:r>
            <a:br>
              <a:rPr lang="en-PH" sz="2000" u="sng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PH" sz="2000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Example: Reaching down to touch toes and holding.</a:t>
            </a:r>
            <a:endParaRPr lang="en-PH" sz="2000" u="sng" dirty="0">
              <a:solidFill>
                <a:schemeClr val="bg1"/>
              </a:solidFill>
              <a:effectLst/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000" u="sng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Proprioceptive Neuromuscular Facilitation </a:t>
            </a:r>
            <a:r>
              <a:rPr lang="en-PH" sz="2000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(PNF)</a:t>
            </a:r>
            <a:br>
              <a:rPr lang="en-PH" sz="2000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PH" sz="2000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Combines static stretch and isometric stretching.</a:t>
            </a:r>
            <a:br>
              <a:rPr lang="en-PH" sz="2000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PH" sz="2000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Example: Partner-assisted hamstring stretch with resistance.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PH" sz="2000" dirty="0">
              <a:solidFill>
                <a:schemeClr val="bg1"/>
              </a:solidFill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b="1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Functional Core Assessment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u="sng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Purpose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000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Identifies limitations in mobility and flexibility.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u="sng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000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 in both warm-up routines and movement preparation.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dirty="0"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 Example: Plank assessment to evaluate core stability and hip mobility.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PH" sz="2000" dirty="0">
              <a:solidFill>
                <a:schemeClr val="bg1"/>
              </a:solidFill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PH" sz="2000" dirty="0">
              <a:solidFill>
                <a:schemeClr val="bg1"/>
              </a:solidFill>
              <a:effectLst/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A8B7E9-EA16-231A-CBC3-C179C16648E0}"/>
              </a:ext>
            </a:extLst>
          </p:cNvPr>
          <p:cNvSpPr txBox="1"/>
          <p:nvPr/>
        </p:nvSpPr>
        <p:spPr>
          <a:xfrm>
            <a:off x="14288863" y="1308200"/>
            <a:ext cx="6490456" cy="44696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4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Summary of Key Concepts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4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Mobility and Stability</a:t>
            </a:r>
            <a:r>
              <a:rPr lang="en-PH" sz="24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Foundation of movement competency.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4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Warm-Up</a:t>
            </a:r>
            <a:r>
              <a:rPr lang="en-PH" sz="24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Prepares the body and mind for physical activity.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4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Cool-Down and Flexibility</a:t>
            </a:r>
            <a:r>
              <a:rPr lang="en-PH" sz="24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Essential for recovery and injury prevention.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4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Practical Application</a:t>
            </a:r>
            <a:r>
              <a:rPr lang="en-PH" sz="24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Use a mix of dynamic and static exercises for comprehensive training.</a:t>
            </a:r>
          </a:p>
          <a:p>
            <a:endParaRPr lang="en-PH" sz="2000" dirty="0">
              <a:latin typeface="Bahnschrift Ligh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5279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2" descr="Free Photo | Multiple yoga poses collage">
            <a:extLst>
              <a:ext uri="{FF2B5EF4-FFF2-40B4-BE49-F238E27FC236}">
                <a16:creationId xmlns:a16="http://schemas.microsoft.com/office/drawing/2014/main" id="{326AD6D4-3CAE-D0CA-7218-2DE586FEE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6315" y="-1510585"/>
            <a:ext cx="12984627" cy="9769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8E46F95-6754-892E-6CCF-829CC727D985}"/>
              </a:ext>
            </a:extLst>
          </p:cNvPr>
          <p:cNvGrpSpPr/>
          <p:nvPr/>
        </p:nvGrpSpPr>
        <p:grpSpPr>
          <a:xfrm>
            <a:off x="-713118" y="0"/>
            <a:ext cx="5987820" cy="6974109"/>
            <a:chOff x="-1603829" y="0"/>
            <a:chExt cx="9179281" cy="697410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BC33EB3-1452-FDFA-5485-79955FCC3118}"/>
                </a:ext>
              </a:extLst>
            </p:cNvPr>
            <p:cNvSpPr/>
            <p:nvPr/>
          </p:nvSpPr>
          <p:spPr>
            <a:xfrm>
              <a:off x="-1603829" y="0"/>
              <a:ext cx="8641445" cy="6974109"/>
            </a:xfrm>
            <a:prstGeom prst="roundRect">
              <a:avLst>
                <a:gd name="adj" fmla="val 8199"/>
              </a:avLst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726F305-AF91-64C0-F567-5560D274029B}"/>
                </a:ext>
              </a:extLst>
            </p:cNvPr>
            <p:cNvSpPr/>
            <p:nvPr/>
          </p:nvSpPr>
          <p:spPr>
            <a:xfrm>
              <a:off x="6187335" y="612353"/>
              <a:ext cx="1388117" cy="1312116"/>
            </a:xfrm>
            <a:prstGeom prst="roundRect">
              <a:avLst/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7B1D7D4-6349-F74D-7FC1-CF4AD203B2F1}"/>
              </a:ext>
            </a:extLst>
          </p:cNvPr>
          <p:cNvSpPr txBox="1"/>
          <p:nvPr/>
        </p:nvSpPr>
        <p:spPr>
          <a:xfrm>
            <a:off x="-8455045" y="338170"/>
            <a:ext cx="6917298" cy="3327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 Warm-Up Techniques</a:t>
            </a:r>
            <a:endParaRPr lang="en-PH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Purpose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Actively warms up the body through movement.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Improves joint mobility and muscle temperature.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Examples: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Arm Circles: Increases shoulder mobility.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 Knees: Activates the hip flexors and increases heart rate.</a:t>
            </a:r>
          </a:p>
        </p:txBody>
      </p:sp>
      <p:pic>
        <p:nvPicPr>
          <p:cNvPr id="6" name="Picture 2" descr="High Knees: Benefits, Muscles Worked, and How-To">
            <a:extLst>
              <a:ext uri="{FF2B5EF4-FFF2-40B4-BE49-F238E27FC236}">
                <a16:creationId xmlns:a16="http://schemas.microsoft.com/office/drawing/2014/main" id="{1374C01B-D93F-BCAA-2D84-FA8DABE5DD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952"/>
          <a:stretch/>
        </p:blipFill>
        <p:spPr bwMode="auto">
          <a:xfrm>
            <a:off x="-7217214" y="3904965"/>
            <a:ext cx="4441636" cy="2830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70D0BD6-2F7B-626A-58AD-44E7C6FC23AD}"/>
              </a:ext>
            </a:extLst>
          </p:cNvPr>
          <p:cNvGrpSpPr/>
          <p:nvPr/>
        </p:nvGrpSpPr>
        <p:grpSpPr>
          <a:xfrm>
            <a:off x="-1111268" y="-1"/>
            <a:ext cx="5480476" cy="6974109"/>
            <a:chOff x="-1756229" y="-1"/>
            <a:chExt cx="8472453" cy="697410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B4E1540-62FE-ECBC-645A-CE20ADB28F9C}"/>
                </a:ext>
              </a:extLst>
            </p:cNvPr>
            <p:cNvSpPr/>
            <p:nvPr/>
          </p:nvSpPr>
          <p:spPr>
            <a:xfrm>
              <a:off x="-1756229" y="-1"/>
              <a:ext cx="7785269" cy="6974109"/>
            </a:xfrm>
            <a:prstGeom prst="roundRect">
              <a:avLst>
                <a:gd name="adj" fmla="val 8199"/>
              </a:avLst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AF8A3FC-49E5-04EC-5124-8025B04D6F6E}"/>
                </a:ext>
              </a:extLst>
            </p:cNvPr>
            <p:cNvSpPr/>
            <p:nvPr/>
          </p:nvSpPr>
          <p:spPr>
            <a:xfrm>
              <a:off x="5328107" y="2062091"/>
              <a:ext cx="1388117" cy="1312116"/>
            </a:xfrm>
            <a:prstGeom prst="roundRect">
              <a:avLst/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8093E07-8FCB-FBDC-51B9-4F95E5F5C0CD}"/>
              </a:ext>
            </a:extLst>
          </p:cNvPr>
          <p:cNvGrpSpPr/>
          <p:nvPr/>
        </p:nvGrpSpPr>
        <p:grpSpPr>
          <a:xfrm>
            <a:off x="-10440143" y="353905"/>
            <a:ext cx="9161893" cy="6844817"/>
            <a:chOff x="3333007" y="353905"/>
            <a:chExt cx="9161893" cy="684481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ABC2052-6FAB-1275-732E-C81B520DE96C}"/>
                </a:ext>
              </a:extLst>
            </p:cNvPr>
            <p:cNvSpPr txBox="1"/>
            <p:nvPr/>
          </p:nvSpPr>
          <p:spPr>
            <a:xfrm>
              <a:off x="3333007" y="353905"/>
              <a:ext cx="9161893" cy="2464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Effects of a Good Warm-Up</a:t>
              </a:r>
              <a:endPara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- Physical Benefits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1. Increased Heart Rate: Enhances blood circulation.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2. Higher Muscle Temperature: Leads to more forceful contractions and quicker relaxation.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3. Improved Joint Mobility: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A4CADDD-0A3C-F884-F755-94F972C6DB23}"/>
                </a:ext>
              </a:extLst>
            </p:cNvPr>
            <p:cNvSpPr txBox="1"/>
            <p:nvPr/>
          </p:nvSpPr>
          <p:spPr>
            <a:xfrm>
              <a:off x="6381495" y="2388405"/>
              <a:ext cx="5837758" cy="19943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-34290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Reduces the risk of injuries.</a:t>
              </a:r>
            </a:p>
            <a:p>
              <a:pPr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Mental Benefits</a:t>
              </a:r>
            </a:p>
            <a:p>
              <a:pPr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Increased Mental Readiness: Prepares the mind for 	the activity ahead.</a:t>
              </a:r>
            </a:p>
            <a:p>
              <a:endParaRPr lang="en-PH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B259239-7D27-17CE-A409-CB20563D81BB}"/>
                </a:ext>
              </a:extLst>
            </p:cNvPr>
            <p:cNvSpPr txBox="1"/>
            <p:nvPr/>
          </p:nvSpPr>
          <p:spPr>
            <a:xfrm>
              <a:off x="3401668" y="3980405"/>
              <a:ext cx="8483182" cy="3218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Case Study: Effective Warm-Up in Sports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i="1" u="sng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Study by Silva et al. (2018)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i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Findings</a:t>
              </a:r>
              <a:r>
                <a:rPr lang="en-PH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10-minute active warm-up with gradual intensity increase.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i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Recommendation</a:t>
              </a:r>
              <a:r>
                <a:rPr lang="en-PH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Use heated garments to maintain muscle temperature post warm-up.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	Example Application: Soccer players perform dynamic stretches followed by sprints to simulate game conditions.</a:t>
              </a:r>
            </a:p>
            <a:p>
              <a:endParaRPr lang="en-PH" sz="20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F878A60-4732-B4C1-5576-14A86873AE5D}"/>
              </a:ext>
            </a:extLst>
          </p:cNvPr>
          <p:cNvGrpSpPr/>
          <p:nvPr/>
        </p:nvGrpSpPr>
        <p:grpSpPr>
          <a:xfrm>
            <a:off x="-1461180" y="8620"/>
            <a:ext cx="4870241" cy="6974109"/>
            <a:chOff x="-1756229" y="8620"/>
            <a:chExt cx="7466040" cy="697410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FFA4E25-B698-394A-2E47-905A939FFF12}"/>
                </a:ext>
              </a:extLst>
            </p:cNvPr>
            <p:cNvSpPr/>
            <p:nvPr/>
          </p:nvSpPr>
          <p:spPr>
            <a:xfrm>
              <a:off x="-1756229" y="8620"/>
              <a:ext cx="6931936" cy="6974109"/>
            </a:xfrm>
            <a:prstGeom prst="roundRect">
              <a:avLst>
                <a:gd name="adj" fmla="val 8199"/>
              </a:avLst>
            </a:prstGeom>
            <a:solidFill>
              <a:srgbClr val="6666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8CEB1A26-BDE2-83B0-DC57-BA4BBD21075D}"/>
                </a:ext>
              </a:extLst>
            </p:cNvPr>
            <p:cNvSpPr/>
            <p:nvPr/>
          </p:nvSpPr>
          <p:spPr>
            <a:xfrm>
              <a:off x="4321694" y="3542116"/>
              <a:ext cx="1388117" cy="1312116"/>
            </a:xfrm>
            <a:prstGeom prst="roundRect">
              <a:avLst/>
            </a:prstGeom>
            <a:solidFill>
              <a:srgbClr val="66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21926F-8ADC-0313-88BC-C6FF42B5E927}"/>
              </a:ext>
            </a:extLst>
          </p:cNvPr>
          <p:cNvGrpSpPr/>
          <p:nvPr/>
        </p:nvGrpSpPr>
        <p:grpSpPr>
          <a:xfrm>
            <a:off x="-10803362" y="506305"/>
            <a:ext cx="9036756" cy="6149224"/>
            <a:chOff x="2855488" y="506305"/>
            <a:chExt cx="9036756" cy="614922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3F7BF0D-213A-4ACB-44F7-9DC1E2A47D30}"/>
                </a:ext>
              </a:extLst>
            </p:cNvPr>
            <p:cNvSpPr txBox="1"/>
            <p:nvPr/>
          </p:nvSpPr>
          <p:spPr>
            <a:xfrm>
              <a:off x="2855488" y="506305"/>
              <a:ext cx="9036756" cy="33989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Cool-Down </a:t>
              </a:r>
              <a:r>
                <a:rPr lang="en-PH" sz="2000" b="1" dirty="0">
                  <a:solidFill>
                    <a:schemeClr val="bg1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and Flexibility Training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Cool down is the g</a:t>
              </a:r>
              <a:r>
                <a:rPr lang="en-PH" sz="20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radual reduction of exercise intensity to return to resting state.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endParaRPr lang="en-PH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Cool-Down Techniques</a:t>
              </a:r>
            </a:p>
            <a:p>
              <a:pPr marL="285750"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u="sng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Static Stretching</a:t>
              </a:r>
              <a:r>
                <a:rPr lang="en-PH" sz="20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Holding a stretch for 20-30 seconds (e.g., hamstring stretch).</a:t>
              </a:r>
            </a:p>
            <a:p>
              <a:pPr marL="285750"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u="sng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Flexibility Training</a:t>
              </a:r>
              <a:r>
                <a:rPr lang="en-PH" sz="20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Improves joint range of motion through controlled stretching.</a:t>
              </a:r>
            </a:p>
            <a:p>
              <a:pPr marL="285750"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endParaRPr lang="en-PH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endParaRPr lang="en-PH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25" name="Picture 24" descr="5 Huge Benefits of Stretching: Learn the Advantages of Flexibility">
              <a:extLst>
                <a:ext uri="{FF2B5EF4-FFF2-40B4-BE49-F238E27FC236}">
                  <a16:creationId xmlns:a16="http://schemas.microsoft.com/office/drawing/2014/main" id="{8E02C4C8-32FF-A265-9854-EAE5D13F2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5639" y="3823547"/>
              <a:ext cx="4453521" cy="28319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C1943CD-98C2-3F9D-CB0A-52A84ED93257}"/>
              </a:ext>
            </a:extLst>
          </p:cNvPr>
          <p:cNvGrpSpPr/>
          <p:nvPr/>
        </p:nvGrpSpPr>
        <p:grpSpPr>
          <a:xfrm>
            <a:off x="-1756229" y="8619"/>
            <a:ext cx="4316668" cy="6974109"/>
            <a:chOff x="-1756229" y="8619"/>
            <a:chExt cx="6617418" cy="6974109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3CDDBAAD-6E93-0B82-EA44-D5A330DFECA9}"/>
                </a:ext>
              </a:extLst>
            </p:cNvPr>
            <p:cNvSpPr/>
            <p:nvPr/>
          </p:nvSpPr>
          <p:spPr>
            <a:xfrm>
              <a:off x="-1756229" y="8619"/>
              <a:ext cx="5923360" cy="6974109"/>
            </a:xfrm>
            <a:prstGeom prst="roundRect">
              <a:avLst>
                <a:gd name="adj" fmla="val 8199"/>
              </a:avLst>
            </a:prstGeom>
            <a:solidFill>
              <a:srgbClr val="9933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EF1A4F58-81F4-B18F-9B79-D65AB32FB7A6}"/>
                </a:ext>
              </a:extLst>
            </p:cNvPr>
            <p:cNvSpPr/>
            <p:nvPr/>
          </p:nvSpPr>
          <p:spPr>
            <a:xfrm>
              <a:off x="3473072" y="5022141"/>
              <a:ext cx="1388117" cy="1312116"/>
            </a:xfrm>
            <a:prstGeom prst="roundRect">
              <a:avLst/>
            </a:prstGeom>
            <a:solidFill>
              <a:srgbClr val="99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983048A-E223-590C-0315-5EB1C5B70B4E}"/>
              </a:ext>
            </a:extLst>
          </p:cNvPr>
          <p:cNvSpPr txBox="1"/>
          <p:nvPr/>
        </p:nvSpPr>
        <p:spPr>
          <a:xfrm>
            <a:off x="-10824730" y="534868"/>
            <a:ext cx="9036756" cy="627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Types of Stretching Techniques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000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Static Stretching</a:t>
            </a:r>
            <a:br>
              <a:rPr lang="en-PH" sz="2000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PH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Example: Reaching down to touch toes and holding.</a:t>
            </a:r>
            <a:endParaRPr lang="en-PH" sz="2000" u="sng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000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Proprioceptive Neuromuscular Facilitation </a:t>
            </a:r>
            <a:r>
              <a:rPr lang="en-PH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(PNF)</a:t>
            </a:r>
            <a:br>
              <a:rPr lang="en-PH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PH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Combines static stretch and isometric stretching.</a:t>
            </a:r>
            <a:br>
              <a:rPr lang="en-PH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PH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Example: Partner-assisted hamstring stretch with resistance.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PH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Functional Core Assessment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Purpose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Identifies limitations in mobility and flexibility.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 in both warm-up routines and movement preparation.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 Example: Plank assessment to evaluate core stability and hip mobility.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PH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PH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4947D51C-B323-E151-863C-068155A70AF6}"/>
              </a:ext>
            </a:extLst>
          </p:cNvPr>
          <p:cNvSpPr/>
          <p:nvPr/>
        </p:nvSpPr>
        <p:spPr>
          <a:xfrm>
            <a:off x="-164169196" y="-62074060"/>
            <a:ext cx="309152396" cy="127997058"/>
          </a:xfrm>
          <a:custGeom>
            <a:avLst/>
            <a:gdLst/>
            <a:ahLst/>
            <a:cxnLst/>
            <a:rect l="l" t="t" r="r" b="b"/>
            <a:pathLst>
              <a:path w="12449334" h="7029171">
                <a:moveTo>
                  <a:pt x="10588189" y="3417503"/>
                </a:moveTo>
                <a:cubicBezTo>
                  <a:pt x="10630916" y="3419146"/>
                  <a:pt x="10663371" y="3436401"/>
                  <a:pt x="10685556" y="3469267"/>
                </a:cubicBezTo>
                <a:cubicBezTo>
                  <a:pt x="10714314" y="3511171"/>
                  <a:pt x="10728692" y="3595391"/>
                  <a:pt x="10728692" y="3721926"/>
                </a:cubicBezTo>
                <a:cubicBezTo>
                  <a:pt x="10728692" y="3859964"/>
                  <a:pt x="10716573" y="3960000"/>
                  <a:pt x="10692334" y="4022035"/>
                </a:cubicBezTo>
                <a:cubicBezTo>
                  <a:pt x="10668096" y="4084070"/>
                  <a:pt x="10629273" y="4115088"/>
                  <a:pt x="10575865" y="4115088"/>
                </a:cubicBezTo>
                <a:cubicBezTo>
                  <a:pt x="10526565" y="4115088"/>
                  <a:pt x="10487537" y="4094546"/>
                  <a:pt x="10458779" y="4053464"/>
                </a:cubicBezTo>
                <a:cubicBezTo>
                  <a:pt x="10418518" y="3996770"/>
                  <a:pt x="10398387" y="3912550"/>
                  <a:pt x="10398387" y="3800805"/>
                </a:cubicBezTo>
                <a:cubicBezTo>
                  <a:pt x="10398387" y="3677556"/>
                  <a:pt x="10419339" y="3578136"/>
                  <a:pt x="10461244" y="3502544"/>
                </a:cubicBezTo>
                <a:cubicBezTo>
                  <a:pt x="10492467" y="3445850"/>
                  <a:pt x="10534782" y="3417503"/>
                  <a:pt x="10588189" y="3417503"/>
                </a:cubicBezTo>
                <a:close/>
                <a:moveTo>
                  <a:pt x="5063369" y="3375598"/>
                </a:moveTo>
                <a:cubicBezTo>
                  <a:pt x="5104452" y="3375598"/>
                  <a:pt x="5137729" y="3389566"/>
                  <a:pt x="5163200" y="3417503"/>
                </a:cubicBezTo>
                <a:cubicBezTo>
                  <a:pt x="5188671" y="3445439"/>
                  <a:pt x="5201407" y="3481592"/>
                  <a:pt x="5201407" y="3525961"/>
                </a:cubicBezTo>
                <a:cubicBezTo>
                  <a:pt x="5201407" y="3574439"/>
                  <a:pt x="5175114" y="3598678"/>
                  <a:pt x="5122528" y="3598678"/>
                </a:cubicBezTo>
                <a:lnTo>
                  <a:pt x="4998047" y="3598678"/>
                </a:lnTo>
                <a:cubicBezTo>
                  <a:pt x="4968468" y="3598678"/>
                  <a:pt x="4947721" y="3593748"/>
                  <a:pt x="4935807" y="3583888"/>
                </a:cubicBezTo>
                <a:cubicBezTo>
                  <a:pt x="4923893" y="3574028"/>
                  <a:pt x="4917936" y="3556773"/>
                  <a:pt x="4917936" y="3532123"/>
                </a:cubicBezTo>
                <a:cubicBezTo>
                  <a:pt x="4917936" y="3497614"/>
                  <a:pt x="4930261" y="3463515"/>
                  <a:pt x="4954911" y="3429828"/>
                </a:cubicBezTo>
                <a:cubicBezTo>
                  <a:pt x="4981204" y="3393675"/>
                  <a:pt x="5017356" y="3375598"/>
                  <a:pt x="5063369" y="3375598"/>
                </a:cubicBezTo>
                <a:close/>
                <a:moveTo>
                  <a:pt x="9203325" y="3161146"/>
                </a:moveTo>
                <a:cubicBezTo>
                  <a:pt x="9068573" y="3161146"/>
                  <a:pt x="8965867" y="3212089"/>
                  <a:pt x="8895205" y="3313974"/>
                </a:cubicBezTo>
                <a:cubicBezTo>
                  <a:pt x="8873019" y="3345197"/>
                  <a:pt x="8852067" y="3360808"/>
                  <a:pt x="8832348" y="3360808"/>
                </a:cubicBezTo>
                <a:cubicBezTo>
                  <a:pt x="8799481" y="3360808"/>
                  <a:pt x="8783049" y="3341089"/>
                  <a:pt x="8783049" y="3301649"/>
                </a:cubicBezTo>
                <a:cubicBezTo>
                  <a:pt x="8783049" y="3296719"/>
                  <a:pt x="8783459" y="3290968"/>
                  <a:pt x="8784281" y="3284395"/>
                </a:cubicBezTo>
                <a:cubicBezTo>
                  <a:pt x="8785103" y="3266318"/>
                  <a:pt x="8785513" y="3256047"/>
                  <a:pt x="8785513" y="3253582"/>
                </a:cubicBezTo>
                <a:cubicBezTo>
                  <a:pt x="8785513" y="3228933"/>
                  <a:pt x="8777092" y="3207570"/>
                  <a:pt x="8760247" y="3189493"/>
                </a:cubicBezTo>
                <a:cubicBezTo>
                  <a:pt x="8743404" y="3171417"/>
                  <a:pt x="8722657" y="3162379"/>
                  <a:pt x="8698007" y="3162379"/>
                </a:cubicBezTo>
                <a:cubicBezTo>
                  <a:pt x="8670893" y="3162379"/>
                  <a:pt x="8620771" y="3172033"/>
                  <a:pt x="8547644" y="3191342"/>
                </a:cubicBezTo>
                <a:cubicBezTo>
                  <a:pt x="8474518" y="3210651"/>
                  <a:pt x="8398514" y="3234273"/>
                  <a:pt x="8319635" y="3262210"/>
                </a:cubicBezTo>
                <a:cubicBezTo>
                  <a:pt x="8230075" y="3294254"/>
                  <a:pt x="8170916" y="3320753"/>
                  <a:pt x="8142158" y="3341705"/>
                </a:cubicBezTo>
                <a:cubicBezTo>
                  <a:pt x="8113400" y="3362657"/>
                  <a:pt x="8099021" y="3389566"/>
                  <a:pt x="8099021" y="3422433"/>
                </a:cubicBezTo>
                <a:cubicBezTo>
                  <a:pt x="8099021" y="3454477"/>
                  <a:pt x="8116686" y="3481592"/>
                  <a:pt x="8152017" y="3503776"/>
                </a:cubicBezTo>
                <a:cubicBezTo>
                  <a:pt x="8193100" y="3529248"/>
                  <a:pt x="8217955" y="3550816"/>
                  <a:pt x="8226583" y="3568482"/>
                </a:cubicBezTo>
                <a:cubicBezTo>
                  <a:pt x="8235210" y="3586147"/>
                  <a:pt x="8239524" y="3623327"/>
                  <a:pt x="8239524" y="3680021"/>
                </a:cubicBezTo>
                <a:cubicBezTo>
                  <a:pt x="8239524" y="3782728"/>
                  <a:pt x="8236648" y="3880916"/>
                  <a:pt x="8230896" y="3974585"/>
                </a:cubicBezTo>
                <a:cubicBezTo>
                  <a:pt x="8225966" y="4053464"/>
                  <a:pt x="8220626" y="4102968"/>
                  <a:pt x="8214874" y="4123099"/>
                </a:cubicBezTo>
                <a:cubicBezTo>
                  <a:pt x="8209123" y="4143229"/>
                  <a:pt x="8195565" y="4161101"/>
                  <a:pt x="8174202" y="4176712"/>
                </a:cubicBezTo>
                <a:cubicBezTo>
                  <a:pt x="8147910" y="4195610"/>
                  <a:pt x="8131271" y="4210194"/>
                  <a:pt x="8124287" y="4220465"/>
                </a:cubicBezTo>
                <a:cubicBezTo>
                  <a:pt x="8117303" y="4230736"/>
                  <a:pt x="8113810" y="4245731"/>
                  <a:pt x="8113810" y="4265451"/>
                </a:cubicBezTo>
                <a:cubicBezTo>
                  <a:pt x="8113810" y="4359941"/>
                  <a:pt x="8228021" y="4407186"/>
                  <a:pt x="8456441" y="4407186"/>
                </a:cubicBezTo>
                <a:cubicBezTo>
                  <a:pt x="8599409" y="4407186"/>
                  <a:pt x="8704581" y="4395683"/>
                  <a:pt x="8771956" y="4372677"/>
                </a:cubicBezTo>
                <a:cubicBezTo>
                  <a:pt x="8839332" y="4349670"/>
                  <a:pt x="8873019" y="4313928"/>
                  <a:pt x="8873019" y="4265451"/>
                </a:cubicBezTo>
                <a:cubicBezTo>
                  <a:pt x="8873019" y="4246553"/>
                  <a:pt x="8868501" y="4229709"/>
                  <a:pt x="8859463" y="4214919"/>
                </a:cubicBezTo>
                <a:cubicBezTo>
                  <a:pt x="8824953" y="4163155"/>
                  <a:pt x="8804617" y="4128234"/>
                  <a:pt x="8798455" y="4110158"/>
                </a:cubicBezTo>
                <a:cubicBezTo>
                  <a:pt x="8792292" y="4092081"/>
                  <a:pt x="8789211" y="4058805"/>
                  <a:pt x="8789211" y="4010327"/>
                </a:cubicBezTo>
                <a:lnTo>
                  <a:pt x="8789211" y="3766295"/>
                </a:lnTo>
                <a:cubicBezTo>
                  <a:pt x="8789211" y="3673448"/>
                  <a:pt x="8799481" y="3609359"/>
                  <a:pt x="8820023" y="3574028"/>
                </a:cubicBezTo>
                <a:cubicBezTo>
                  <a:pt x="8840565" y="3538697"/>
                  <a:pt x="8878361" y="3521031"/>
                  <a:pt x="8933411" y="3521031"/>
                </a:cubicBezTo>
                <a:cubicBezTo>
                  <a:pt x="8990927" y="3521031"/>
                  <a:pt x="9030367" y="3542805"/>
                  <a:pt x="9051729" y="3586353"/>
                </a:cubicBezTo>
                <a:cubicBezTo>
                  <a:pt x="9078023" y="3640582"/>
                  <a:pt x="9091169" y="3724391"/>
                  <a:pt x="9091169" y="3837779"/>
                </a:cubicBezTo>
                <a:cubicBezTo>
                  <a:pt x="9091169" y="4033333"/>
                  <a:pt x="9074737" y="4148365"/>
                  <a:pt x="9041870" y="4182874"/>
                </a:cubicBezTo>
                <a:cubicBezTo>
                  <a:pt x="9013934" y="4213276"/>
                  <a:pt x="8997501" y="4232379"/>
                  <a:pt x="8992571" y="4240185"/>
                </a:cubicBezTo>
                <a:cubicBezTo>
                  <a:pt x="8987641" y="4247991"/>
                  <a:pt x="8985175" y="4260110"/>
                  <a:pt x="8985175" y="4276543"/>
                </a:cubicBezTo>
                <a:cubicBezTo>
                  <a:pt x="8985175" y="4322556"/>
                  <a:pt x="9009415" y="4355833"/>
                  <a:pt x="9057892" y="4376374"/>
                </a:cubicBezTo>
                <a:cubicBezTo>
                  <a:pt x="9104727" y="4396094"/>
                  <a:pt x="9184838" y="4405954"/>
                  <a:pt x="9298226" y="4405954"/>
                </a:cubicBezTo>
                <a:cubicBezTo>
                  <a:pt x="9465023" y="4405954"/>
                  <a:pt x="9580876" y="4395272"/>
                  <a:pt x="9645786" y="4373909"/>
                </a:cubicBezTo>
                <a:cubicBezTo>
                  <a:pt x="9710697" y="4352546"/>
                  <a:pt x="9743153" y="4314750"/>
                  <a:pt x="9743153" y="4260521"/>
                </a:cubicBezTo>
                <a:cubicBezTo>
                  <a:pt x="9743153" y="4236693"/>
                  <a:pt x="9736990" y="4218206"/>
                  <a:pt x="9724665" y="4205059"/>
                </a:cubicBezTo>
                <a:cubicBezTo>
                  <a:pt x="9682761" y="4160690"/>
                  <a:pt x="9657495" y="4130699"/>
                  <a:pt x="9648868" y="4115088"/>
                </a:cubicBezTo>
                <a:cubicBezTo>
                  <a:pt x="9640240" y="4099476"/>
                  <a:pt x="9635105" y="4075238"/>
                  <a:pt x="9633462" y="4042371"/>
                </a:cubicBezTo>
                <a:lnTo>
                  <a:pt x="9616207" y="3608537"/>
                </a:lnTo>
                <a:cubicBezTo>
                  <a:pt x="9611277" y="3507474"/>
                  <a:pt x="9598542" y="3430855"/>
                  <a:pt x="9578000" y="3378679"/>
                </a:cubicBezTo>
                <a:cubicBezTo>
                  <a:pt x="9557459" y="3326504"/>
                  <a:pt x="9521306" y="3281108"/>
                  <a:pt x="9469541" y="3242490"/>
                </a:cubicBezTo>
                <a:cubicBezTo>
                  <a:pt x="9395592" y="3188261"/>
                  <a:pt x="9306854" y="3161146"/>
                  <a:pt x="9203325" y="3161146"/>
                </a:cubicBezTo>
                <a:close/>
                <a:moveTo>
                  <a:pt x="5075694" y="3153751"/>
                </a:moveTo>
                <a:cubicBezTo>
                  <a:pt x="4977917" y="3153751"/>
                  <a:pt x="4887124" y="3171417"/>
                  <a:pt x="4803315" y="3206748"/>
                </a:cubicBezTo>
                <a:cubicBezTo>
                  <a:pt x="4691570" y="3253582"/>
                  <a:pt x="4599544" y="3324655"/>
                  <a:pt x="4527239" y="3419968"/>
                </a:cubicBezTo>
                <a:cubicBezTo>
                  <a:pt x="4443430" y="3530069"/>
                  <a:pt x="4401526" y="3654139"/>
                  <a:pt x="4401526" y="3792177"/>
                </a:cubicBezTo>
                <a:cubicBezTo>
                  <a:pt x="4401526" y="3894884"/>
                  <a:pt x="4425764" y="3992661"/>
                  <a:pt x="4474243" y="4085508"/>
                </a:cubicBezTo>
                <a:cubicBezTo>
                  <a:pt x="4511217" y="4155349"/>
                  <a:pt x="4558051" y="4214919"/>
                  <a:pt x="4614745" y="4264218"/>
                </a:cubicBezTo>
                <a:cubicBezTo>
                  <a:pt x="4731420" y="4364460"/>
                  <a:pt x="4876032" y="4414581"/>
                  <a:pt x="5048579" y="4414581"/>
                </a:cubicBezTo>
                <a:cubicBezTo>
                  <a:pt x="5219483" y="4414581"/>
                  <a:pt x="5370257" y="4365693"/>
                  <a:pt x="5500900" y="4267916"/>
                </a:cubicBezTo>
                <a:cubicBezTo>
                  <a:pt x="5574849" y="4212865"/>
                  <a:pt x="5611824" y="4155760"/>
                  <a:pt x="5611824" y="4096601"/>
                </a:cubicBezTo>
                <a:cubicBezTo>
                  <a:pt x="5611824" y="4068664"/>
                  <a:pt x="5601554" y="4041550"/>
                  <a:pt x="5581012" y="4015257"/>
                </a:cubicBezTo>
                <a:cubicBezTo>
                  <a:pt x="5560470" y="3988964"/>
                  <a:pt x="5539518" y="3975817"/>
                  <a:pt x="5518155" y="3975817"/>
                </a:cubicBezTo>
                <a:cubicBezTo>
                  <a:pt x="5501722" y="3975817"/>
                  <a:pt x="5479537" y="3985677"/>
                  <a:pt x="5451602" y="4005397"/>
                </a:cubicBezTo>
                <a:cubicBezTo>
                  <a:pt x="5420378" y="4027582"/>
                  <a:pt x="5380733" y="4046274"/>
                  <a:pt x="5332667" y="4061475"/>
                </a:cubicBezTo>
                <a:cubicBezTo>
                  <a:pt x="5284600" y="4076675"/>
                  <a:pt x="5240847" y="4084276"/>
                  <a:pt x="5201407" y="4084276"/>
                </a:cubicBezTo>
                <a:cubicBezTo>
                  <a:pt x="5134853" y="4084276"/>
                  <a:pt x="5072613" y="4060653"/>
                  <a:pt x="5014686" y="4013408"/>
                </a:cubicBezTo>
                <a:cubicBezTo>
                  <a:pt x="4956759" y="3966163"/>
                  <a:pt x="4927796" y="3915837"/>
                  <a:pt x="4927796" y="3862429"/>
                </a:cubicBezTo>
                <a:cubicBezTo>
                  <a:pt x="4927796" y="3840244"/>
                  <a:pt x="4940531" y="3829152"/>
                  <a:pt x="4966003" y="3829152"/>
                </a:cubicBezTo>
                <a:lnTo>
                  <a:pt x="5545270" y="3829152"/>
                </a:lnTo>
                <a:cubicBezTo>
                  <a:pt x="5580601" y="3829152"/>
                  <a:pt x="5609359" y="3812102"/>
                  <a:pt x="5631544" y="3778004"/>
                </a:cubicBezTo>
                <a:cubicBezTo>
                  <a:pt x="5653728" y="3743905"/>
                  <a:pt x="5664820" y="3700152"/>
                  <a:pt x="5664820" y="3646744"/>
                </a:cubicBezTo>
                <a:cubicBezTo>
                  <a:pt x="5664820" y="3581012"/>
                  <a:pt x="5645512" y="3513636"/>
                  <a:pt x="5606895" y="3444617"/>
                </a:cubicBezTo>
                <a:cubicBezTo>
                  <a:pt x="5573206" y="3383815"/>
                  <a:pt x="5528837" y="3331229"/>
                  <a:pt x="5473786" y="3286859"/>
                </a:cubicBezTo>
                <a:cubicBezTo>
                  <a:pt x="5364506" y="3198121"/>
                  <a:pt x="5231809" y="3153751"/>
                  <a:pt x="5075694" y="3153751"/>
                </a:cubicBezTo>
                <a:close/>
                <a:moveTo>
                  <a:pt x="3308198" y="2697733"/>
                </a:moveTo>
                <a:cubicBezTo>
                  <a:pt x="3220280" y="2697733"/>
                  <a:pt x="3102372" y="2718274"/>
                  <a:pt x="2954475" y="2759357"/>
                </a:cubicBezTo>
                <a:cubicBezTo>
                  <a:pt x="2845195" y="2788936"/>
                  <a:pt x="2771246" y="2816462"/>
                  <a:pt x="2732628" y="2841933"/>
                </a:cubicBezTo>
                <a:cubicBezTo>
                  <a:pt x="2694010" y="2867404"/>
                  <a:pt x="2674702" y="2900681"/>
                  <a:pt x="2674702" y="2941764"/>
                </a:cubicBezTo>
                <a:cubicBezTo>
                  <a:pt x="2674702" y="2976274"/>
                  <a:pt x="2700173" y="3006675"/>
                  <a:pt x="2751115" y="3032968"/>
                </a:cubicBezTo>
                <a:cubicBezTo>
                  <a:pt x="2774943" y="3045293"/>
                  <a:pt x="2791171" y="3057412"/>
                  <a:pt x="2799798" y="3069326"/>
                </a:cubicBezTo>
                <a:cubicBezTo>
                  <a:pt x="2808426" y="3081240"/>
                  <a:pt x="2814383" y="3099933"/>
                  <a:pt x="2817669" y="3125404"/>
                </a:cubicBezTo>
                <a:cubicBezTo>
                  <a:pt x="2827529" y="3193601"/>
                  <a:pt x="2832459" y="3316028"/>
                  <a:pt x="2832459" y="3492684"/>
                </a:cubicBezTo>
                <a:cubicBezTo>
                  <a:pt x="2832459" y="3717818"/>
                  <a:pt x="2826502" y="3879067"/>
                  <a:pt x="2814588" y="3976434"/>
                </a:cubicBezTo>
                <a:cubicBezTo>
                  <a:pt x="2802674" y="4073800"/>
                  <a:pt x="2781106" y="4133575"/>
                  <a:pt x="2749883" y="4155760"/>
                </a:cubicBezTo>
                <a:cubicBezTo>
                  <a:pt x="2714552" y="4180409"/>
                  <a:pt x="2692367" y="4198691"/>
                  <a:pt x="2683329" y="4210605"/>
                </a:cubicBezTo>
                <a:cubicBezTo>
                  <a:pt x="2674290" y="4222519"/>
                  <a:pt x="2669771" y="4239569"/>
                  <a:pt x="2669771" y="4261753"/>
                </a:cubicBezTo>
                <a:cubicBezTo>
                  <a:pt x="2669771" y="4357887"/>
                  <a:pt x="2811096" y="4405954"/>
                  <a:pt x="3093745" y="4405954"/>
                </a:cubicBezTo>
                <a:cubicBezTo>
                  <a:pt x="3335312" y="4405954"/>
                  <a:pt x="3456095" y="4359530"/>
                  <a:pt x="3456095" y="4266683"/>
                </a:cubicBezTo>
                <a:cubicBezTo>
                  <a:pt x="3456095" y="4243677"/>
                  <a:pt x="3448290" y="4223546"/>
                  <a:pt x="3432678" y="4206292"/>
                </a:cubicBezTo>
                <a:cubicBezTo>
                  <a:pt x="3398991" y="4168495"/>
                  <a:pt x="3380092" y="4142613"/>
                  <a:pt x="3375984" y="4128645"/>
                </a:cubicBezTo>
                <a:cubicBezTo>
                  <a:pt x="3371876" y="4114677"/>
                  <a:pt x="3366946" y="4055107"/>
                  <a:pt x="3361194" y="3949935"/>
                </a:cubicBezTo>
                <a:lnTo>
                  <a:pt x="3361194" y="3712066"/>
                </a:lnTo>
                <a:cubicBezTo>
                  <a:pt x="3361194" y="3639760"/>
                  <a:pt x="3369822" y="3590461"/>
                  <a:pt x="3387076" y="3564168"/>
                </a:cubicBezTo>
                <a:cubicBezTo>
                  <a:pt x="3410904" y="3528015"/>
                  <a:pt x="3447879" y="3509939"/>
                  <a:pt x="3498000" y="3509939"/>
                </a:cubicBezTo>
                <a:cubicBezTo>
                  <a:pt x="3567841" y="3509939"/>
                  <a:pt x="3616318" y="3544037"/>
                  <a:pt x="3643433" y="3612235"/>
                </a:cubicBezTo>
                <a:cubicBezTo>
                  <a:pt x="3663975" y="3662356"/>
                  <a:pt x="3674245" y="3742056"/>
                  <a:pt x="3674245" y="3851337"/>
                </a:cubicBezTo>
                <a:cubicBezTo>
                  <a:pt x="3674245" y="4032101"/>
                  <a:pt x="3656990" y="4145078"/>
                  <a:pt x="3622480" y="4190269"/>
                </a:cubicBezTo>
                <a:cubicBezTo>
                  <a:pt x="3597831" y="4222314"/>
                  <a:pt x="3583452" y="4242034"/>
                  <a:pt x="3579344" y="4249428"/>
                </a:cubicBezTo>
                <a:cubicBezTo>
                  <a:pt x="3575236" y="4256823"/>
                  <a:pt x="3573181" y="4267505"/>
                  <a:pt x="3573181" y="4281473"/>
                </a:cubicBezTo>
                <a:cubicBezTo>
                  <a:pt x="3573181" y="4364460"/>
                  <a:pt x="3692321" y="4405954"/>
                  <a:pt x="3930601" y="4405954"/>
                </a:cubicBezTo>
                <a:cubicBezTo>
                  <a:pt x="4198461" y="4405954"/>
                  <a:pt x="4332390" y="4361584"/>
                  <a:pt x="4332390" y="4272846"/>
                </a:cubicBezTo>
                <a:cubicBezTo>
                  <a:pt x="4332390" y="4246553"/>
                  <a:pt x="4320476" y="4223957"/>
                  <a:pt x="4296649" y="4205059"/>
                </a:cubicBezTo>
                <a:cubicBezTo>
                  <a:pt x="4262139" y="4177944"/>
                  <a:pt x="4240160" y="4155349"/>
                  <a:pt x="4230711" y="4137273"/>
                </a:cubicBezTo>
                <a:cubicBezTo>
                  <a:pt x="4221262" y="4119196"/>
                  <a:pt x="4216127" y="4090849"/>
                  <a:pt x="4215305" y="4052231"/>
                </a:cubicBezTo>
                <a:lnTo>
                  <a:pt x="4204212" y="3607305"/>
                </a:lnTo>
                <a:cubicBezTo>
                  <a:pt x="4202569" y="3516923"/>
                  <a:pt x="4194558" y="3447493"/>
                  <a:pt x="4180179" y="3399015"/>
                </a:cubicBezTo>
                <a:cubicBezTo>
                  <a:pt x="4165800" y="3350538"/>
                  <a:pt x="4141356" y="3308633"/>
                  <a:pt x="4106846" y="3273302"/>
                </a:cubicBezTo>
                <a:cubicBezTo>
                  <a:pt x="4029611" y="3193601"/>
                  <a:pt x="3925671" y="3153751"/>
                  <a:pt x="3795028" y="3153751"/>
                </a:cubicBezTo>
                <a:cubicBezTo>
                  <a:pt x="3661920" y="3153751"/>
                  <a:pt x="3555516" y="3211678"/>
                  <a:pt x="3475815" y="3327531"/>
                </a:cubicBezTo>
                <a:cubicBezTo>
                  <a:pt x="3456917" y="3354646"/>
                  <a:pt x="3437608" y="3368203"/>
                  <a:pt x="3417889" y="3368203"/>
                </a:cubicBezTo>
                <a:cubicBezTo>
                  <a:pt x="3378449" y="3368203"/>
                  <a:pt x="3359551" y="3337391"/>
                  <a:pt x="3361194" y="3275767"/>
                </a:cubicBezTo>
                <a:lnTo>
                  <a:pt x="3377217" y="2759357"/>
                </a:lnTo>
                <a:cubicBezTo>
                  <a:pt x="3378860" y="2718274"/>
                  <a:pt x="3355854" y="2697733"/>
                  <a:pt x="3308198" y="2697733"/>
                </a:cubicBezTo>
                <a:close/>
                <a:moveTo>
                  <a:pt x="11151434" y="2696500"/>
                </a:moveTo>
                <a:cubicBezTo>
                  <a:pt x="11079950" y="2696500"/>
                  <a:pt x="10939037" y="2725669"/>
                  <a:pt x="10728692" y="2784006"/>
                </a:cubicBezTo>
                <a:cubicBezTo>
                  <a:pt x="10609553" y="2817694"/>
                  <a:pt x="10549982" y="2864529"/>
                  <a:pt x="10549982" y="2924509"/>
                </a:cubicBezTo>
                <a:cubicBezTo>
                  <a:pt x="10549982" y="2965592"/>
                  <a:pt x="10575865" y="2994350"/>
                  <a:pt x="10627629" y="3010783"/>
                </a:cubicBezTo>
                <a:cubicBezTo>
                  <a:pt x="10664603" y="3022286"/>
                  <a:pt x="10690281" y="3036049"/>
                  <a:pt x="10704659" y="3052072"/>
                </a:cubicBezTo>
                <a:cubicBezTo>
                  <a:pt x="10719038" y="3068094"/>
                  <a:pt x="10726228" y="3091305"/>
                  <a:pt x="10726228" y="3121707"/>
                </a:cubicBezTo>
                <a:cubicBezTo>
                  <a:pt x="10726228" y="3192369"/>
                  <a:pt x="10713082" y="3227700"/>
                  <a:pt x="10686788" y="3227700"/>
                </a:cubicBezTo>
                <a:cubicBezTo>
                  <a:pt x="10679393" y="3227700"/>
                  <a:pt x="10669533" y="3224413"/>
                  <a:pt x="10657208" y="3217840"/>
                </a:cubicBezTo>
                <a:cubicBezTo>
                  <a:pt x="10581617" y="3175114"/>
                  <a:pt x="10496164" y="3153751"/>
                  <a:pt x="10400852" y="3153751"/>
                </a:cubicBezTo>
                <a:cubicBezTo>
                  <a:pt x="10317865" y="3153751"/>
                  <a:pt x="10233645" y="3175936"/>
                  <a:pt x="10148193" y="3220305"/>
                </a:cubicBezTo>
                <a:cubicBezTo>
                  <a:pt x="10046308" y="3273713"/>
                  <a:pt x="9965786" y="3350127"/>
                  <a:pt x="9906626" y="3449547"/>
                </a:cubicBezTo>
                <a:cubicBezTo>
                  <a:pt x="9842537" y="3557184"/>
                  <a:pt x="9810493" y="3668929"/>
                  <a:pt x="9810493" y="3784782"/>
                </a:cubicBezTo>
                <a:cubicBezTo>
                  <a:pt x="9810493" y="3883381"/>
                  <a:pt x="9835142" y="3980747"/>
                  <a:pt x="9884442" y="4076881"/>
                </a:cubicBezTo>
                <a:cubicBezTo>
                  <a:pt x="9921416" y="4150830"/>
                  <a:pt x="9969894" y="4216151"/>
                  <a:pt x="10029875" y="4272846"/>
                </a:cubicBezTo>
                <a:cubicBezTo>
                  <a:pt x="10131760" y="4367336"/>
                  <a:pt x="10246381" y="4414581"/>
                  <a:pt x="10373737" y="4414581"/>
                </a:cubicBezTo>
                <a:cubicBezTo>
                  <a:pt x="10476444" y="4414581"/>
                  <a:pt x="10569702" y="4380483"/>
                  <a:pt x="10653511" y="4312285"/>
                </a:cubicBezTo>
                <a:cubicBezTo>
                  <a:pt x="10683091" y="4287635"/>
                  <a:pt x="10704865" y="4275311"/>
                  <a:pt x="10718833" y="4275311"/>
                </a:cubicBezTo>
                <a:cubicBezTo>
                  <a:pt x="10744304" y="4275311"/>
                  <a:pt x="10759094" y="4296263"/>
                  <a:pt x="10763202" y="4338167"/>
                </a:cubicBezTo>
                <a:cubicBezTo>
                  <a:pt x="10765667" y="4367747"/>
                  <a:pt x="10770803" y="4386439"/>
                  <a:pt x="10778608" y="4394245"/>
                </a:cubicBezTo>
                <a:cubicBezTo>
                  <a:pt x="10786415" y="4402051"/>
                  <a:pt x="10803463" y="4405954"/>
                  <a:pt x="10829756" y="4405954"/>
                </a:cubicBezTo>
                <a:cubicBezTo>
                  <a:pt x="10948896" y="4405954"/>
                  <a:pt x="11068037" y="4390753"/>
                  <a:pt x="11187176" y="4360352"/>
                </a:cubicBezTo>
                <a:cubicBezTo>
                  <a:pt x="11319463" y="4325842"/>
                  <a:pt x="11385606" y="4275721"/>
                  <a:pt x="11385606" y="4209989"/>
                </a:cubicBezTo>
                <a:cubicBezTo>
                  <a:pt x="11385606" y="4187804"/>
                  <a:pt x="11380471" y="4168906"/>
                  <a:pt x="11370200" y="4153295"/>
                </a:cubicBezTo>
                <a:cubicBezTo>
                  <a:pt x="11359930" y="4137683"/>
                  <a:pt x="11340004" y="4119607"/>
                  <a:pt x="11310424" y="4099066"/>
                </a:cubicBezTo>
                <a:cubicBezTo>
                  <a:pt x="11285775" y="4081811"/>
                  <a:pt x="11270780" y="4064145"/>
                  <a:pt x="11265439" y="4046069"/>
                </a:cubicBezTo>
                <a:cubicBezTo>
                  <a:pt x="11260098" y="4027992"/>
                  <a:pt x="11257428" y="3986910"/>
                  <a:pt x="11257428" y="3922821"/>
                </a:cubicBezTo>
                <a:lnTo>
                  <a:pt x="11257428" y="2797564"/>
                </a:lnTo>
                <a:cubicBezTo>
                  <a:pt x="11257428" y="2730188"/>
                  <a:pt x="11222097" y="2696500"/>
                  <a:pt x="11151434" y="2696500"/>
                </a:cubicBezTo>
                <a:close/>
                <a:moveTo>
                  <a:pt x="2354916" y="2660758"/>
                </a:moveTo>
                <a:cubicBezTo>
                  <a:pt x="2336018" y="2660758"/>
                  <a:pt x="2314244" y="2664045"/>
                  <a:pt x="2289595" y="2670618"/>
                </a:cubicBezTo>
                <a:cubicBezTo>
                  <a:pt x="2232079" y="2687051"/>
                  <a:pt x="2168401" y="2696500"/>
                  <a:pt x="2098560" y="2698965"/>
                </a:cubicBezTo>
                <a:lnTo>
                  <a:pt x="1449041" y="2698965"/>
                </a:lnTo>
                <a:cubicBezTo>
                  <a:pt x="1412067" y="2698965"/>
                  <a:pt x="1379406" y="2697322"/>
                  <a:pt x="1351059" y="2694035"/>
                </a:cubicBezTo>
                <a:cubicBezTo>
                  <a:pt x="1322712" y="2690749"/>
                  <a:pt x="1286353" y="2684586"/>
                  <a:pt x="1241984" y="2675548"/>
                </a:cubicBezTo>
                <a:cubicBezTo>
                  <a:pt x="1220621" y="2670618"/>
                  <a:pt x="1201723" y="2668153"/>
                  <a:pt x="1185290" y="2668153"/>
                </a:cubicBezTo>
                <a:cubicBezTo>
                  <a:pt x="1124487" y="2668153"/>
                  <a:pt x="1062863" y="2710057"/>
                  <a:pt x="1000417" y="2793866"/>
                </a:cubicBezTo>
                <a:cubicBezTo>
                  <a:pt x="961800" y="2845630"/>
                  <a:pt x="930988" y="2902120"/>
                  <a:pt x="907981" y="2963333"/>
                </a:cubicBezTo>
                <a:cubicBezTo>
                  <a:pt x="884975" y="3024546"/>
                  <a:pt x="873471" y="3080624"/>
                  <a:pt x="873471" y="3131567"/>
                </a:cubicBezTo>
                <a:cubicBezTo>
                  <a:pt x="873471" y="3183331"/>
                  <a:pt x="887850" y="3225851"/>
                  <a:pt x="916609" y="3259129"/>
                </a:cubicBezTo>
                <a:cubicBezTo>
                  <a:pt x="945366" y="3292406"/>
                  <a:pt x="981930" y="3309044"/>
                  <a:pt x="1026299" y="3309044"/>
                </a:cubicBezTo>
                <a:cubicBezTo>
                  <a:pt x="1065739" y="3309044"/>
                  <a:pt x="1106411" y="3293022"/>
                  <a:pt x="1148315" y="3260977"/>
                </a:cubicBezTo>
                <a:cubicBezTo>
                  <a:pt x="1183647" y="3233863"/>
                  <a:pt x="1228837" y="3178401"/>
                  <a:pt x="1283888" y="3094592"/>
                </a:cubicBezTo>
                <a:cubicBezTo>
                  <a:pt x="1314290" y="3048579"/>
                  <a:pt x="1345513" y="3025573"/>
                  <a:pt x="1377557" y="3025573"/>
                </a:cubicBezTo>
                <a:cubicBezTo>
                  <a:pt x="1403850" y="3025573"/>
                  <a:pt x="1422748" y="3041184"/>
                  <a:pt x="1434251" y="3072407"/>
                </a:cubicBezTo>
                <a:cubicBezTo>
                  <a:pt x="1445755" y="3103630"/>
                  <a:pt x="1451506" y="3156216"/>
                  <a:pt x="1451506" y="3230165"/>
                </a:cubicBezTo>
                <a:cubicBezTo>
                  <a:pt x="1451506" y="3335337"/>
                  <a:pt x="1448630" y="3459612"/>
                  <a:pt x="1442879" y="3602991"/>
                </a:cubicBezTo>
                <a:cubicBezTo>
                  <a:pt x="1437127" y="3746370"/>
                  <a:pt x="1430965" y="3850104"/>
                  <a:pt x="1424392" y="3914193"/>
                </a:cubicBezTo>
                <a:cubicBezTo>
                  <a:pt x="1416997" y="3986499"/>
                  <a:pt x="1407342" y="4035387"/>
                  <a:pt x="1395428" y="4060859"/>
                </a:cubicBezTo>
                <a:cubicBezTo>
                  <a:pt x="1383514" y="4086330"/>
                  <a:pt x="1361946" y="4103585"/>
                  <a:pt x="1330723" y="4112623"/>
                </a:cubicBezTo>
                <a:cubicBezTo>
                  <a:pt x="1279780" y="4128234"/>
                  <a:pt x="1250611" y="4138094"/>
                  <a:pt x="1243217" y="4142202"/>
                </a:cubicBezTo>
                <a:cubicBezTo>
                  <a:pt x="1213637" y="4161100"/>
                  <a:pt x="1198847" y="4187393"/>
                  <a:pt x="1198847" y="4221081"/>
                </a:cubicBezTo>
                <a:cubicBezTo>
                  <a:pt x="1198847" y="4283527"/>
                  <a:pt x="1240341" y="4328718"/>
                  <a:pt x="1323328" y="4356654"/>
                </a:cubicBezTo>
                <a:cubicBezTo>
                  <a:pt x="1421927" y="4390342"/>
                  <a:pt x="1573111" y="4407186"/>
                  <a:pt x="1776882" y="4407186"/>
                </a:cubicBezTo>
                <a:cubicBezTo>
                  <a:pt x="1942856" y="4407186"/>
                  <a:pt x="2065899" y="4392807"/>
                  <a:pt x="2146010" y="4364049"/>
                </a:cubicBezTo>
                <a:cubicBezTo>
                  <a:pt x="2226122" y="4335291"/>
                  <a:pt x="2266178" y="4291333"/>
                  <a:pt x="2266178" y="4232174"/>
                </a:cubicBezTo>
                <a:cubicBezTo>
                  <a:pt x="2266178" y="4202594"/>
                  <a:pt x="2258167" y="4179382"/>
                  <a:pt x="2242144" y="4162538"/>
                </a:cubicBezTo>
                <a:cubicBezTo>
                  <a:pt x="2226122" y="4145694"/>
                  <a:pt x="2195926" y="4127823"/>
                  <a:pt x="2151556" y="4108925"/>
                </a:cubicBezTo>
                <a:cubicBezTo>
                  <a:pt x="2110474" y="4091671"/>
                  <a:pt x="2082537" y="4067021"/>
                  <a:pt x="2067748" y="4034976"/>
                </a:cubicBezTo>
                <a:cubicBezTo>
                  <a:pt x="2052958" y="4002932"/>
                  <a:pt x="2045563" y="3951579"/>
                  <a:pt x="2045563" y="3880916"/>
                </a:cubicBezTo>
                <a:lnTo>
                  <a:pt x="2045563" y="3190726"/>
                </a:lnTo>
                <a:cubicBezTo>
                  <a:pt x="2045563" y="3132388"/>
                  <a:pt x="2052136" y="3090484"/>
                  <a:pt x="2065283" y="3065012"/>
                </a:cubicBezTo>
                <a:cubicBezTo>
                  <a:pt x="2078429" y="3039541"/>
                  <a:pt x="2100203" y="3026805"/>
                  <a:pt x="2130604" y="3026805"/>
                </a:cubicBezTo>
                <a:cubicBezTo>
                  <a:pt x="2152789" y="3026805"/>
                  <a:pt x="2171687" y="3034611"/>
                  <a:pt x="2187299" y="3050223"/>
                </a:cubicBezTo>
                <a:cubicBezTo>
                  <a:pt x="2202910" y="3065834"/>
                  <a:pt x="2224273" y="3099111"/>
                  <a:pt x="2251387" y="3150054"/>
                </a:cubicBezTo>
                <a:cubicBezTo>
                  <a:pt x="2282610" y="3205926"/>
                  <a:pt x="2314244" y="3245982"/>
                  <a:pt x="2346288" y="3270221"/>
                </a:cubicBezTo>
                <a:cubicBezTo>
                  <a:pt x="2378334" y="3294460"/>
                  <a:pt x="2416129" y="3306579"/>
                  <a:pt x="2459677" y="3306579"/>
                </a:cubicBezTo>
                <a:cubicBezTo>
                  <a:pt x="2505690" y="3306579"/>
                  <a:pt x="2545129" y="3294254"/>
                  <a:pt x="2577996" y="3269605"/>
                </a:cubicBezTo>
                <a:cubicBezTo>
                  <a:pt x="2621544" y="3236738"/>
                  <a:pt x="2643317" y="3184563"/>
                  <a:pt x="2643317" y="3113079"/>
                </a:cubicBezTo>
                <a:cubicBezTo>
                  <a:pt x="2643317" y="3008729"/>
                  <a:pt x="2611889" y="2907255"/>
                  <a:pt x="2549033" y="2808656"/>
                </a:cubicBezTo>
                <a:cubicBezTo>
                  <a:pt x="2486176" y="2710057"/>
                  <a:pt x="2421470" y="2660758"/>
                  <a:pt x="2354916" y="2660758"/>
                </a:cubicBezTo>
                <a:close/>
                <a:moveTo>
                  <a:pt x="7762209" y="2650898"/>
                </a:moveTo>
                <a:cubicBezTo>
                  <a:pt x="7752349" y="2650898"/>
                  <a:pt x="7738792" y="2653363"/>
                  <a:pt x="7721537" y="2658293"/>
                </a:cubicBezTo>
                <a:cubicBezTo>
                  <a:pt x="7665665" y="2674726"/>
                  <a:pt x="7608354" y="2685613"/>
                  <a:pt x="7549606" y="2690954"/>
                </a:cubicBezTo>
                <a:cubicBezTo>
                  <a:pt x="7490857" y="2696295"/>
                  <a:pt x="7397394" y="2698965"/>
                  <a:pt x="7269216" y="2698965"/>
                </a:cubicBezTo>
                <a:lnTo>
                  <a:pt x="6635720" y="2698965"/>
                </a:lnTo>
                <a:cubicBezTo>
                  <a:pt x="6543694" y="2698965"/>
                  <a:pt x="6481660" y="2702662"/>
                  <a:pt x="6449614" y="2710057"/>
                </a:cubicBezTo>
                <a:cubicBezTo>
                  <a:pt x="6424143" y="2716631"/>
                  <a:pt x="6403602" y="2730188"/>
                  <a:pt x="6387990" y="2750729"/>
                </a:cubicBezTo>
                <a:cubicBezTo>
                  <a:pt x="6372379" y="2771271"/>
                  <a:pt x="6364573" y="2794688"/>
                  <a:pt x="6364573" y="2820981"/>
                </a:cubicBezTo>
                <a:cubicBezTo>
                  <a:pt x="6364573" y="2869459"/>
                  <a:pt x="6387990" y="2900681"/>
                  <a:pt x="6434825" y="2914650"/>
                </a:cubicBezTo>
                <a:cubicBezTo>
                  <a:pt x="6466048" y="2923688"/>
                  <a:pt x="6486589" y="2931493"/>
                  <a:pt x="6496449" y="2938067"/>
                </a:cubicBezTo>
                <a:cubicBezTo>
                  <a:pt x="6506309" y="2944640"/>
                  <a:pt x="6515347" y="2956143"/>
                  <a:pt x="6523564" y="2972576"/>
                </a:cubicBezTo>
                <a:cubicBezTo>
                  <a:pt x="6563003" y="3055563"/>
                  <a:pt x="6582723" y="3255636"/>
                  <a:pt x="6582723" y="3572795"/>
                </a:cubicBezTo>
                <a:cubicBezTo>
                  <a:pt x="6582723" y="3783139"/>
                  <a:pt x="6569165" y="3950346"/>
                  <a:pt x="6542051" y="4074416"/>
                </a:cubicBezTo>
                <a:cubicBezTo>
                  <a:pt x="6535478" y="4104817"/>
                  <a:pt x="6526234" y="4127823"/>
                  <a:pt x="6514320" y="4143435"/>
                </a:cubicBezTo>
                <a:cubicBezTo>
                  <a:pt x="6502406" y="4159046"/>
                  <a:pt x="6484124" y="4172193"/>
                  <a:pt x="6459474" y="4182874"/>
                </a:cubicBezTo>
                <a:cubicBezTo>
                  <a:pt x="6424143" y="4199307"/>
                  <a:pt x="6401548" y="4212865"/>
                  <a:pt x="6391688" y="4223546"/>
                </a:cubicBezTo>
                <a:cubicBezTo>
                  <a:pt x="6381828" y="4234228"/>
                  <a:pt x="6376898" y="4251483"/>
                  <a:pt x="6376898" y="4275311"/>
                </a:cubicBezTo>
                <a:cubicBezTo>
                  <a:pt x="6376898" y="4308998"/>
                  <a:pt x="6388401" y="4335086"/>
                  <a:pt x="6411408" y="4353573"/>
                </a:cubicBezTo>
                <a:cubicBezTo>
                  <a:pt x="6434414" y="4372060"/>
                  <a:pt x="6466869" y="4381304"/>
                  <a:pt x="6508774" y="4381304"/>
                </a:cubicBezTo>
                <a:lnTo>
                  <a:pt x="7553919" y="4381304"/>
                </a:lnTo>
                <a:cubicBezTo>
                  <a:pt x="7641836" y="4383769"/>
                  <a:pt x="7712088" y="4389931"/>
                  <a:pt x="7764674" y="4399791"/>
                </a:cubicBezTo>
                <a:cubicBezTo>
                  <a:pt x="7794253" y="4404721"/>
                  <a:pt x="7816849" y="4407186"/>
                  <a:pt x="7832460" y="4407186"/>
                </a:cubicBezTo>
                <a:cubicBezTo>
                  <a:pt x="7851358" y="4407186"/>
                  <a:pt x="7866970" y="4402462"/>
                  <a:pt x="7879295" y="4393013"/>
                </a:cubicBezTo>
                <a:cubicBezTo>
                  <a:pt x="7891619" y="4383564"/>
                  <a:pt x="7907231" y="4364871"/>
                  <a:pt x="7926129" y="4336935"/>
                </a:cubicBezTo>
                <a:cubicBezTo>
                  <a:pt x="7963103" y="4279419"/>
                  <a:pt x="7994326" y="4213686"/>
                  <a:pt x="8019798" y="4139738"/>
                </a:cubicBezTo>
                <a:cubicBezTo>
                  <a:pt x="8045269" y="4065789"/>
                  <a:pt x="8058005" y="4004164"/>
                  <a:pt x="8058005" y="3954865"/>
                </a:cubicBezTo>
                <a:cubicBezTo>
                  <a:pt x="8058005" y="3909674"/>
                  <a:pt x="8046707" y="3872083"/>
                  <a:pt x="8024111" y="3842093"/>
                </a:cubicBezTo>
                <a:cubicBezTo>
                  <a:pt x="8001516" y="3812102"/>
                  <a:pt x="7972963" y="3797107"/>
                  <a:pt x="7938454" y="3797107"/>
                </a:cubicBezTo>
                <a:cubicBezTo>
                  <a:pt x="7908874" y="3797107"/>
                  <a:pt x="7884841" y="3805324"/>
                  <a:pt x="7866353" y="3821757"/>
                </a:cubicBezTo>
                <a:cubicBezTo>
                  <a:pt x="7847866" y="3838190"/>
                  <a:pt x="7827120" y="3870235"/>
                  <a:pt x="7804113" y="3917891"/>
                </a:cubicBezTo>
                <a:cubicBezTo>
                  <a:pt x="7764674" y="4000878"/>
                  <a:pt x="7713731" y="4058188"/>
                  <a:pt x="7651285" y="4089822"/>
                </a:cubicBezTo>
                <a:cubicBezTo>
                  <a:pt x="7588840" y="4121456"/>
                  <a:pt x="7495992" y="4137273"/>
                  <a:pt x="7372745" y="4137273"/>
                </a:cubicBezTo>
                <a:cubicBezTo>
                  <a:pt x="7293044" y="4137273"/>
                  <a:pt x="7236144" y="4132548"/>
                  <a:pt x="7202046" y="4123099"/>
                </a:cubicBezTo>
                <a:cubicBezTo>
                  <a:pt x="7167947" y="4113650"/>
                  <a:pt x="7147611" y="4096601"/>
                  <a:pt x="7141038" y="4071951"/>
                </a:cubicBezTo>
                <a:cubicBezTo>
                  <a:pt x="7135286" y="4052231"/>
                  <a:pt x="7129740" y="4011765"/>
                  <a:pt x="7124399" y="3950551"/>
                </a:cubicBezTo>
                <a:cubicBezTo>
                  <a:pt x="7119058" y="3889338"/>
                  <a:pt x="7116388" y="3839423"/>
                  <a:pt x="7116388" y="3800805"/>
                </a:cubicBezTo>
                <a:cubicBezTo>
                  <a:pt x="7116388" y="3737537"/>
                  <a:pt x="7123166" y="3694195"/>
                  <a:pt x="7136724" y="3670778"/>
                </a:cubicBezTo>
                <a:cubicBezTo>
                  <a:pt x="7150281" y="3647361"/>
                  <a:pt x="7175547" y="3635652"/>
                  <a:pt x="7212521" y="3635652"/>
                </a:cubicBezTo>
                <a:cubicBezTo>
                  <a:pt x="7308656" y="3635652"/>
                  <a:pt x="7362885" y="3682076"/>
                  <a:pt x="7375210" y="3774923"/>
                </a:cubicBezTo>
                <a:cubicBezTo>
                  <a:pt x="7380961" y="3820114"/>
                  <a:pt x="7389177" y="3849899"/>
                  <a:pt x="7399859" y="3864278"/>
                </a:cubicBezTo>
                <a:cubicBezTo>
                  <a:pt x="7410541" y="3878657"/>
                  <a:pt x="7429849" y="3885846"/>
                  <a:pt x="7457786" y="3885846"/>
                </a:cubicBezTo>
                <a:cubicBezTo>
                  <a:pt x="7502977" y="3885846"/>
                  <a:pt x="7536665" y="3863251"/>
                  <a:pt x="7558849" y="3818060"/>
                </a:cubicBezTo>
                <a:cubicBezTo>
                  <a:pt x="7599110" y="3735072"/>
                  <a:pt x="7619241" y="3628668"/>
                  <a:pt x="7619241" y="3498847"/>
                </a:cubicBezTo>
                <a:cubicBezTo>
                  <a:pt x="7619241" y="3433114"/>
                  <a:pt x="7613284" y="3370052"/>
                  <a:pt x="7601370" y="3309660"/>
                </a:cubicBezTo>
                <a:cubicBezTo>
                  <a:pt x="7589456" y="3249269"/>
                  <a:pt x="7574871" y="3207159"/>
                  <a:pt x="7557617" y="3183331"/>
                </a:cubicBezTo>
                <a:cubicBezTo>
                  <a:pt x="7533789" y="3151286"/>
                  <a:pt x="7505031" y="3135264"/>
                  <a:pt x="7471343" y="3135264"/>
                </a:cubicBezTo>
                <a:cubicBezTo>
                  <a:pt x="7448337" y="3135264"/>
                  <a:pt x="7428206" y="3142659"/>
                  <a:pt x="7410951" y="3157449"/>
                </a:cubicBezTo>
                <a:cubicBezTo>
                  <a:pt x="7394518" y="3170595"/>
                  <a:pt x="7383221" y="3186001"/>
                  <a:pt x="7377058" y="3203667"/>
                </a:cubicBezTo>
                <a:cubicBezTo>
                  <a:pt x="7370896" y="3221332"/>
                  <a:pt x="7364939" y="3253993"/>
                  <a:pt x="7359187" y="3301649"/>
                </a:cubicBezTo>
                <a:cubicBezTo>
                  <a:pt x="7355079" y="3338624"/>
                  <a:pt x="7345219" y="3364300"/>
                  <a:pt x="7329608" y="3378679"/>
                </a:cubicBezTo>
                <a:cubicBezTo>
                  <a:pt x="7313996" y="3393058"/>
                  <a:pt x="7288936" y="3400248"/>
                  <a:pt x="7254426" y="3400248"/>
                </a:cubicBezTo>
                <a:cubicBezTo>
                  <a:pt x="7184585" y="3400248"/>
                  <a:pt x="7141448" y="3394291"/>
                  <a:pt x="7125016" y="3382377"/>
                </a:cubicBezTo>
                <a:cubicBezTo>
                  <a:pt x="7108582" y="3370463"/>
                  <a:pt x="7100365" y="3339856"/>
                  <a:pt x="7100365" y="3290557"/>
                </a:cubicBezTo>
                <a:cubicBezTo>
                  <a:pt x="7100365" y="3165665"/>
                  <a:pt x="7101393" y="3088019"/>
                  <a:pt x="7103447" y="3057618"/>
                </a:cubicBezTo>
                <a:cubicBezTo>
                  <a:pt x="7105501" y="3027216"/>
                  <a:pt x="7111869" y="3002978"/>
                  <a:pt x="7122551" y="2984901"/>
                </a:cubicBezTo>
                <a:cubicBezTo>
                  <a:pt x="7143092" y="2951213"/>
                  <a:pt x="7200607" y="2934369"/>
                  <a:pt x="7295098" y="2934369"/>
                </a:cubicBezTo>
                <a:cubicBezTo>
                  <a:pt x="7421633" y="2934369"/>
                  <a:pt x="7512631" y="2943613"/>
                  <a:pt x="7568093" y="2962100"/>
                </a:cubicBezTo>
                <a:cubicBezTo>
                  <a:pt x="7623554" y="2980587"/>
                  <a:pt x="7669362" y="3017357"/>
                  <a:pt x="7705514" y="3072407"/>
                </a:cubicBezTo>
                <a:cubicBezTo>
                  <a:pt x="7730986" y="3111025"/>
                  <a:pt x="7751322" y="3135880"/>
                  <a:pt x="7766522" y="3146973"/>
                </a:cubicBezTo>
                <a:cubicBezTo>
                  <a:pt x="7781723" y="3158065"/>
                  <a:pt x="7802881" y="3163611"/>
                  <a:pt x="7829995" y="3163611"/>
                </a:cubicBezTo>
                <a:cubicBezTo>
                  <a:pt x="7869435" y="3163611"/>
                  <a:pt x="7900453" y="3148205"/>
                  <a:pt x="7923048" y="3117393"/>
                </a:cubicBezTo>
                <a:cubicBezTo>
                  <a:pt x="7945643" y="3086581"/>
                  <a:pt x="7956941" y="3044471"/>
                  <a:pt x="7956941" y="2991063"/>
                </a:cubicBezTo>
                <a:cubicBezTo>
                  <a:pt x="7956941" y="2885070"/>
                  <a:pt x="7929826" y="2794688"/>
                  <a:pt x="7875597" y="2719917"/>
                </a:cubicBezTo>
                <a:cubicBezTo>
                  <a:pt x="7842731" y="2673905"/>
                  <a:pt x="7804935" y="2650898"/>
                  <a:pt x="7762209" y="2650898"/>
                </a:cubicBezTo>
                <a:close/>
                <a:moveTo>
                  <a:pt x="0" y="0"/>
                </a:moveTo>
                <a:lnTo>
                  <a:pt x="12449334" y="0"/>
                </a:lnTo>
                <a:lnTo>
                  <a:pt x="12449334" y="7029171"/>
                </a:lnTo>
                <a:lnTo>
                  <a:pt x="0" y="70291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62E826-F122-366A-CA02-8D5C2A1D209B}"/>
              </a:ext>
            </a:extLst>
          </p:cNvPr>
          <p:cNvSpPr txBox="1"/>
          <p:nvPr/>
        </p:nvSpPr>
        <p:spPr>
          <a:xfrm>
            <a:off x="5638814" y="1307305"/>
            <a:ext cx="6490456" cy="44696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4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Summary of Key Concepts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4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Mobility and Stability</a:t>
            </a:r>
            <a:r>
              <a:rPr lang="en-PH" sz="24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Foundation of movement competency.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4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Warm-Up</a:t>
            </a:r>
            <a:r>
              <a:rPr lang="en-PH" sz="24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Prepares the body and mind for physical activity.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4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Cool-Down and Flexibility</a:t>
            </a:r>
            <a:r>
              <a:rPr lang="en-PH" sz="24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Essential for recovery and injury prevention.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4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Practical Application</a:t>
            </a:r>
            <a:r>
              <a:rPr lang="en-PH" sz="24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Use a mix of dynamic and static exercises for comprehensive training.</a:t>
            </a:r>
          </a:p>
          <a:p>
            <a:endParaRPr lang="en-PH" sz="2000" dirty="0">
              <a:latin typeface="Bahnschrift Ligh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6195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2" descr="Free Photo | Multiple yoga poses collage">
            <a:extLst>
              <a:ext uri="{FF2B5EF4-FFF2-40B4-BE49-F238E27FC236}">
                <a16:creationId xmlns:a16="http://schemas.microsoft.com/office/drawing/2014/main" id="{326AD6D4-3CAE-D0CA-7218-2DE586FEE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6315" y="-1510585"/>
            <a:ext cx="12984627" cy="9769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8E46F95-6754-892E-6CCF-829CC727D985}"/>
              </a:ext>
            </a:extLst>
          </p:cNvPr>
          <p:cNvGrpSpPr/>
          <p:nvPr/>
        </p:nvGrpSpPr>
        <p:grpSpPr>
          <a:xfrm>
            <a:off x="-15648318" y="0"/>
            <a:ext cx="5987820" cy="6974109"/>
            <a:chOff x="-1603829" y="0"/>
            <a:chExt cx="9179281" cy="697410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BC33EB3-1452-FDFA-5485-79955FCC3118}"/>
                </a:ext>
              </a:extLst>
            </p:cNvPr>
            <p:cNvSpPr/>
            <p:nvPr/>
          </p:nvSpPr>
          <p:spPr>
            <a:xfrm>
              <a:off x="-1603829" y="0"/>
              <a:ext cx="8641445" cy="6974109"/>
            </a:xfrm>
            <a:prstGeom prst="roundRect">
              <a:avLst>
                <a:gd name="adj" fmla="val 8199"/>
              </a:avLst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726F305-AF91-64C0-F567-5560D274029B}"/>
                </a:ext>
              </a:extLst>
            </p:cNvPr>
            <p:cNvSpPr/>
            <p:nvPr/>
          </p:nvSpPr>
          <p:spPr>
            <a:xfrm>
              <a:off x="6187335" y="612353"/>
              <a:ext cx="1388117" cy="1312116"/>
            </a:xfrm>
            <a:prstGeom prst="roundRect">
              <a:avLst/>
            </a:prstGeom>
            <a:solidFill>
              <a:srgbClr val="00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7B1D7D4-6349-F74D-7FC1-CF4AD203B2F1}"/>
              </a:ext>
            </a:extLst>
          </p:cNvPr>
          <p:cNvSpPr txBox="1"/>
          <p:nvPr/>
        </p:nvSpPr>
        <p:spPr>
          <a:xfrm>
            <a:off x="-23390245" y="338170"/>
            <a:ext cx="6917298" cy="3327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 Warm-Up Techniques</a:t>
            </a:r>
            <a:endParaRPr lang="en-PH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Purpose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Actively warms up the body through movement.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Improves joint mobility and muscle temperature.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Examples: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Arm Circles: Increases shoulder mobility.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 Knees: Activates the hip flexors and increases heart rate.</a:t>
            </a:r>
          </a:p>
        </p:txBody>
      </p:sp>
      <p:pic>
        <p:nvPicPr>
          <p:cNvPr id="6" name="Picture 2" descr="High Knees: Benefits, Muscles Worked, and How-To">
            <a:extLst>
              <a:ext uri="{FF2B5EF4-FFF2-40B4-BE49-F238E27FC236}">
                <a16:creationId xmlns:a16="http://schemas.microsoft.com/office/drawing/2014/main" id="{1374C01B-D93F-BCAA-2D84-FA8DABE5DD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952"/>
          <a:stretch/>
        </p:blipFill>
        <p:spPr bwMode="auto">
          <a:xfrm>
            <a:off x="-22152414" y="3904965"/>
            <a:ext cx="4441636" cy="2830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70D0BD6-2F7B-626A-58AD-44E7C6FC23AD}"/>
              </a:ext>
            </a:extLst>
          </p:cNvPr>
          <p:cNvGrpSpPr/>
          <p:nvPr/>
        </p:nvGrpSpPr>
        <p:grpSpPr>
          <a:xfrm>
            <a:off x="-16046468" y="-1"/>
            <a:ext cx="5480476" cy="6974109"/>
            <a:chOff x="-1756229" y="-1"/>
            <a:chExt cx="8472453" cy="697410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B4E1540-62FE-ECBC-645A-CE20ADB28F9C}"/>
                </a:ext>
              </a:extLst>
            </p:cNvPr>
            <p:cNvSpPr/>
            <p:nvPr/>
          </p:nvSpPr>
          <p:spPr>
            <a:xfrm>
              <a:off x="-1756229" y="-1"/>
              <a:ext cx="7785269" cy="6974109"/>
            </a:xfrm>
            <a:prstGeom prst="roundRect">
              <a:avLst>
                <a:gd name="adj" fmla="val 8199"/>
              </a:avLst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AF8A3FC-49E5-04EC-5124-8025B04D6F6E}"/>
                </a:ext>
              </a:extLst>
            </p:cNvPr>
            <p:cNvSpPr/>
            <p:nvPr/>
          </p:nvSpPr>
          <p:spPr>
            <a:xfrm>
              <a:off x="5328107" y="2062091"/>
              <a:ext cx="1388117" cy="1312116"/>
            </a:xfrm>
            <a:prstGeom prst="roundRect">
              <a:avLst/>
            </a:prstGeom>
            <a:solidFill>
              <a:srgbClr val="66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8093E07-8FCB-FBDC-51B9-4F95E5F5C0CD}"/>
              </a:ext>
            </a:extLst>
          </p:cNvPr>
          <p:cNvGrpSpPr/>
          <p:nvPr/>
        </p:nvGrpSpPr>
        <p:grpSpPr>
          <a:xfrm>
            <a:off x="-25375343" y="353905"/>
            <a:ext cx="9161893" cy="6844817"/>
            <a:chOff x="3333007" y="353905"/>
            <a:chExt cx="9161893" cy="684481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ABC2052-6FAB-1275-732E-C81B520DE96C}"/>
                </a:ext>
              </a:extLst>
            </p:cNvPr>
            <p:cNvSpPr txBox="1"/>
            <p:nvPr/>
          </p:nvSpPr>
          <p:spPr>
            <a:xfrm>
              <a:off x="3333007" y="353905"/>
              <a:ext cx="9161893" cy="2464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Effects of a Good Warm-Up</a:t>
              </a:r>
              <a:endParaRPr lang="en-PH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- Physical Benefits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1. Increased Heart Rate: Enhances blood circulation.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2. Higher Muscle Temperature: Leads to more forceful contractions and quicker relaxation.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3. Improved Joint Mobility: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A4CADDD-0A3C-F884-F755-94F972C6DB23}"/>
                </a:ext>
              </a:extLst>
            </p:cNvPr>
            <p:cNvSpPr txBox="1"/>
            <p:nvPr/>
          </p:nvSpPr>
          <p:spPr>
            <a:xfrm>
              <a:off x="6381495" y="2388405"/>
              <a:ext cx="5837758" cy="19943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-34290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Reduces the risk of injuries.</a:t>
              </a:r>
            </a:p>
            <a:p>
              <a:pPr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Mental Benefits</a:t>
              </a:r>
            </a:p>
            <a:p>
              <a:pPr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Increased Mental Readiness: Prepares the mind for 	the activity ahead.</a:t>
              </a:r>
            </a:p>
            <a:p>
              <a:endParaRPr lang="en-PH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B259239-7D27-17CE-A409-CB20563D81BB}"/>
                </a:ext>
              </a:extLst>
            </p:cNvPr>
            <p:cNvSpPr txBox="1"/>
            <p:nvPr/>
          </p:nvSpPr>
          <p:spPr>
            <a:xfrm>
              <a:off x="3401668" y="3980405"/>
              <a:ext cx="8483182" cy="3218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Case Study: Effective Warm-Up in Sports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i="1" u="sng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Study by Silva et al. (2018)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i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Findings</a:t>
              </a:r>
              <a:r>
                <a:rPr lang="en-PH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10-minute active warm-up with gradual intensity increase.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i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Recommendation</a:t>
              </a:r>
              <a:r>
                <a:rPr lang="en-PH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Use heated garments to maintain muscle temperature post warm-up.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	Example Application: Soccer players perform dynamic stretches followed by sprints to simulate game conditions.</a:t>
              </a:r>
            </a:p>
            <a:p>
              <a:endParaRPr lang="en-PH" sz="20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F878A60-4732-B4C1-5576-14A86873AE5D}"/>
              </a:ext>
            </a:extLst>
          </p:cNvPr>
          <p:cNvGrpSpPr/>
          <p:nvPr/>
        </p:nvGrpSpPr>
        <p:grpSpPr>
          <a:xfrm>
            <a:off x="-16396380" y="8620"/>
            <a:ext cx="4870241" cy="6974109"/>
            <a:chOff x="-1756229" y="8620"/>
            <a:chExt cx="7466040" cy="697410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FFA4E25-B698-394A-2E47-905A939FFF12}"/>
                </a:ext>
              </a:extLst>
            </p:cNvPr>
            <p:cNvSpPr/>
            <p:nvPr/>
          </p:nvSpPr>
          <p:spPr>
            <a:xfrm>
              <a:off x="-1756229" y="8620"/>
              <a:ext cx="6931936" cy="6974109"/>
            </a:xfrm>
            <a:prstGeom prst="roundRect">
              <a:avLst>
                <a:gd name="adj" fmla="val 8199"/>
              </a:avLst>
            </a:prstGeom>
            <a:solidFill>
              <a:srgbClr val="6666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8CEB1A26-BDE2-83B0-DC57-BA4BBD21075D}"/>
                </a:ext>
              </a:extLst>
            </p:cNvPr>
            <p:cNvSpPr/>
            <p:nvPr/>
          </p:nvSpPr>
          <p:spPr>
            <a:xfrm>
              <a:off x="4321694" y="3542116"/>
              <a:ext cx="1388117" cy="1312116"/>
            </a:xfrm>
            <a:prstGeom prst="roundRect">
              <a:avLst/>
            </a:prstGeom>
            <a:solidFill>
              <a:srgbClr val="66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21926F-8ADC-0313-88BC-C6FF42B5E927}"/>
              </a:ext>
            </a:extLst>
          </p:cNvPr>
          <p:cNvGrpSpPr/>
          <p:nvPr/>
        </p:nvGrpSpPr>
        <p:grpSpPr>
          <a:xfrm>
            <a:off x="-25738562" y="506305"/>
            <a:ext cx="9036756" cy="6149224"/>
            <a:chOff x="2855488" y="506305"/>
            <a:chExt cx="9036756" cy="614922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3F7BF0D-213A-4ACB-44F7-9DC1E2A47D30}"/>
                </a:ext>
              </a:extLst>
            </p:cNvPr>
            <p:cNvSpPr txBox="1"/>
            <p:nvPr/>
          </p:nvSpPr>
          <p:spPr>
            <a:xfrm>
              <a:off x="2855488" y="506305"/>
              <a:ext cx="9036756" cy="33989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Cool-Down </a:t>
              </a:r>
              <a:r>
                <a:rPr lang="en-PH" sz="2000" b="1" dirty="0">
                  <a:solidFill>
                    <a:schemeClr val="bg1"/>
                  </a:solidFill>
                  <a:latin typeface="Calibri" panose="020F0502020204030204" pitchFamily="34" charset="0"/>
                  <a:cs typeface="Times New Roman" panose="02020603050405020304" pitchFamily="18" charset="0"/>
                </a:rPr>
                <a:t>and Flexibility Training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Cool down is the g</a:t>
              </a:r>
              <a:r>
                <a:rPr lang="en-PH" sz="20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radual reduction of exercise intensity to return to resting state.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endParaRPr lang="en-PH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PH" sz="2000" b="1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Cool-Down Techniques</a:t>
              </a:r>
            </a:p>
            <a:p>
              <a:pPr marL="285750"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u="sng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Static Stretching</a:t>
              </a:r>
              <a:r>
                <a:rPr lang="en-PH" sz="20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Holding a stretch for 20-30 seconds (e.g., hamstring stretch).</a:t>
              </a:r>
            </a:p>
            <a:p>
              <a:pPr marL="285750"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r>
                <a:rPr lang="en-PH" sz="2000" u="sng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Flexibility Training</a:t>
              </a:r>
              <a:r>
                <a:rPr lang="en-PH" sz="20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: Improves joint range of motion through controlled stretching.</a:t>
              </a:r>
            </a:p>
            <a:p>
              <a:pPr marL="285750" indent="-285750">
                <a:lnSpc>
                  <a:spcPct val="107000"/>
                </a:lnSpc>
                <a:spcAft>
                  <a:spcPts val="800"/>
                </a:spcAft>
                <a:buFont typeface="Arial" panose="020B0604020202020204" pitchFamily="34" charset="0"/>
                <a:buChar char="•"/>
              </a:pPr>
              <a:endParaRPr lang="en-PH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endParaRPr lang="en-PH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25" name="Picture 24" descr="5 Huge Benefits of Stretching: Learn the Advantages of Flexibility">
              <a:extLst>
                <a:ext uri="{FF2B5EF4-FFF2-40B4-BE49-F238E27FC236}">
                  <a16:creationId xmlns:a16="http://schemas.microsoft.com/office/drawing/2014/main" id="{8E02C4C8-32FF-A265-9854-EAE5D13F2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5639" y="3823547"/>
              <a:ext cx="4453521" cy="28319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BD72973-6177-3884-0637-F93B526D3D85}"/>
              </a:ext>
            </a:extLst>
          </p:cNvPr>
          <p:cNvSpPr txBox="1"/>
          <p:nvPr/>
        </p:nvSpPr>
        <p:spPr>
          <a:xfrm>
            <a:off x="-9317914" y="1252242"/>
            <a:ext cx="6490456" cy="44696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4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Summary of Key Concepts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4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Mobility and Stability</a:t>
            </a:r>
            <a:r>
              <a:rPr lang="en-PH" sz="24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Foundation of movement competency.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4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Warm-Up</a:t>
            </a:r>
            <a:r>
              <a:rPr lang="en-PH" sz="24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Prepares the body and mind for physical activity.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4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Cool-Down and Flexibility</a:t>
            </a:r>
            <a:r>
              <a:rPr lang="en-PH" sz="24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Essential for recovery and injury prevention.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400" u="sng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Practical Application</a:t>
            </a:r>
            <a:r>
              <a:rPr lang="en-PH" sz="24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Use a mix of dynamic and static exercises for comprehensive training.</a:t>
            </a:r>
          </a:p>
          <a:p>
            <a:endParaRPr lang="en-PH" sz="2000" dirty="0">
              <a:latin typeface="Bahnschrift Light SemiCondensed" panose="020B0502040204020203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C1943CD-98C2-3F9D-CB0A-52A84ED93257}"/>
              </a:ext>
            </a:extLst>
          </p:cNvPr>
          <p:cNvGrpSpPr/>
          <p:nvPr/>
        </p:nvGrpSpPr>
        <p:grpSpPr>
          <a:xfrm>
            <a:off x="-16691429" y="8619"/>
            <a:ext cx="4316668" cy="6974109"/>
            <a:chOff x="-1756229" y="8619"/>
            <a:chExt cx="6617418" cy="6974109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3CDDBAAD-6E93-0B82-EA44-D5A330DFECA9}"/>
                </a:ext>
              </a:extLst>
            </p:cNvPr>
            <p:cNvSpPr/>
            <p:nvPr/>
          </p:nvSpPr>
          <p:spPr>
            <a:xfrm>
              <a:off x="-1756229" y="8619"/>
              <a:ext cx="5923360" cy="6974109"/>
            </a:xfrm>
            <a:prstGeom prst="roundRect">
              <a:avLst>
                <a:gd name="adj" fmla="val 8199"/>
              </a:avLst>
            </a:prstGeom>
            <a:solidFill>
              <a:srgbClr val="9933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EF1A4F58-81F4-B18F-9B79-D65AB32FB7A6}"/>
                </a:ext>
              </a:extLst>
            </p:cNvPr>
            <p:cNvSpPr/>
            <p:nvPr/>
          </p:nvSpPr>
          <p:spPr>
            <a:xfrm>
              <a:off x="3473072" y="5022141"/>
              <a:ext cx="1388117" cy="1312116"/>
            </a:xfrm>
            <a:prstGeom prst="roundRect">
              <a:avLst/>
            </a:prstGeom>
            <a:solidFill>
              <a:srgbClr val="99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983048A-E223-590C-0315-5EB1C5B70B4E}"/>
              </a:ext>
            </a:extLst>
          </p:cNvPr>
          <p:cNvSpPr txBox="1"/>
          <p:nvPr/>
        </p:nvSpPr>
        <p:spPr>
          <a:xfrm>
            <a:off x="-25759930" y="534868"/>
            <a:ext cx="9036756" cy="6270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Types of Stretching Techniques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000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Static Stretching</a:t>
            </a:r>
            <a:br>
              <a:rPr lang="en-PH" sz="2000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PH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Example: Reaching down to touch toes and holding.</a:t>
            </a:r>
            <a:endParaRPr lang="en-PH" sz="2000" u="sng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H" sz="2000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Proprioceptive Neuromuscular Facilitation </a:t>
            </a:r>
            <a:r>
              <a:rPr lang="en-PH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(PNF)</a:t>
            </a:r>
            <a:br>
              <a:rPr lang="en-PH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PH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Combines static stretch and isometric stretching.</a:t>
            </a:r>
            <a:br>
              <a:rPr lang="en-PH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PH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Example: Partner-assisted hamstring stretch with resistance.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PH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Functional Core Assessment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Purpose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Identifies limitations in mobility and flexibility.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PH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 in both warm-up routines and movement preparation.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H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 Example: Plank assessment to evaluate core stability and hip mobility.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PH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PH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87643E1-FCEE-00DE-92FF-5924362D1554}"/>
              </a:ext>
            </a:extLst>
          </p:cNvPr>
          <p:cNvSpPr/>
          <p:nvPr/>
        </p:nvSpPr>
        <p:spPr>
          <a:xfrm>
            <a:off x="-383381" y="8619"/>
            <a:ext cx="12971693" cy="6982731"/>
          </a:xfrm>
          <a:custGeom>
            <a:avLst/>
            <a:gdLst/>
            <a:ahLst/>
            <a:cxnLst/>
            <a:rect l="l" t="t" r="r" b="b"/>
            <a:pathLst>
              <a:path w="12449334" h="7029171">
                <a:moveTo>
                  <a:pt x="10588189" y="3417503"/>
                </a:moveTo>
                <a:cubicBezTo>
                  <a:pt x="10630916" y="3419146"/>
                  <a:pt x="10663371" y="3436401"/>
                  <a:pt x="10685556" y="3469267"/>
                </a:cubicBezTo>
                <a:cubicBezTo>
                  <a:pt x="10714314" y="3511171"/>
                  <a:pt x="10728692" y="3595391"/>
                  <a:pt x="10728692" y="3721926"/>
                </a:cubicBezTo>
                <a:cubicBezTo>
                  <a:pt x="10728692" y="3859964"/>
                  <a:pt x="10716573" y="3960000"/>
                  <a:pt x="10692334" y="4022035"/>
                </a:cubicBezTo>
                <a:cubicBezTo>
                  <a:pt x="10668096" y="4084070"/>
                  <a:pt x="10629273" y="4115088"/>
                  <a:pt x="10575865" y="4115088"/>
                </a:cubicBezTo>
                <a:cubicBezTo>
                  <a:pt x="10526565" y="4115088"/>
                  <a:pt x="10487537" y="4094546"/>
                  <a:pt x="10458779" y="4053464"/>
                </a:cubicBezTo>
                <a:cubicBezTo>
                  <a:pt x="10418518" y="3996770"/>
                  <a:pt x="10398387" y="3912550"/>
                  <a:pt x="10398387" y="3800805"/>
                </a:cubicBezTo>
                <a:cubicBezTo>
                  <a:pt x="10398387" y="3677556"/>
                  <a:pt x="10419339" y="3578136"/>
                  <a:pt x="10461244" y="3502544"/>
                </a:cubicBezTo>
                <a:cubicBezTo>
                  <a:pt x="10492467" y="3445850"/>
                  <a:pt x="10534782" y="3417503"/>
                  <a:pt x="10588189" y="3417503"/>
                </a:cubicBezTo>
                <a:close/>
                <a:moveTo>
                  <a:pt x="5063369" y="3375598"/>
                </a:moveTo>
                <a:cubicBezTo>
                  <a:pt x="5104452" y="3375598"/>
                  <a:pt x="5137729" y="3389566"/>
                  <a:pt x="5163200" y="3417503"/>
                </a:cubicBezTo>
                <a:cubicBezTo>
                  <a:pt x="5188671" y="3445439"/>
                  <a:pt x="5201407" y="3481592"/>
                  <a:pt x="5201407" y="3525961"/>
                </a:cubicBezTo>
                <a:cubicBezTo>
                  <a:pt x="5201407" y="3574439"/>
                  <a:pt x="5175114" y="3598678"/>
                  <a:pt x="5122528" y="3598678"/>
                </a:cubicBezTo>
                <a:lnTo>
                  <a:pt x="4998047" y="3598678"/>
                </a:lnTo>
                <a:cubicBezTo>
                  <a:pt x="4968468" y="3598678"/>
                  <a:pt x="4947721" y="3593748"/>
                  <a:pt x="4935807" y="3583888"/>
                </a:cubicBezTo>
                <a:cubicBezTo>
                  <a:pt x="4923893" y="3574028"/>
                  <a:pt x="4917936" y="3556773"/>
                  <a:pt x="4917936" y="3532123"/>
                </a:cubicBezTo>
                <a:cubicBezTo>
                  <a:pt x="4917936" y="3497614"/>
                  <a:pt x="4930261" y="3463515"/>
                  <a:pt x="4954911" y="3429828"/>
                </a:cubicBezTo>
                <a:cubicBezTo>
                  <a:pt x="4981204" y="3393675"/>
                  <a:pt x="5017356" y="3375598"/>
                  <a:pt x="5063369" y="3375598"/>
                </a:cubicBezTo>
                <a:close/>
                <a:moveTo>
                  <a:pt x="9203325" y="3161146"/>
                </a:moveTo>
                <a:cubicBezTo>
                  <a:pt x="9068573" y="3161146"/>
                  <a:pt x="8965867" y="3212089"/>
                  <a:pt x="8895205" y="3313974"/>
                </a:cubicBezTo>
                <a:cubicBezTo>
                  <a:pt x="8873019" y="3345197"/>
                  <a:pt x="8852067" y="3360808"/>
                  <a:pt x="8832348" y="3360808"/>
                </a:cubicBezTo>
                <a:cubicBezTo>
                  <a:pt x="8799481" y="3360808"/>
                  <a:pt x="8783049" y="3341089"/>
                  <a:pt x="8783049" y="3301649"/>
                </a:cubicBezTo>
                <a:cubicBezTo>
                  <a:pt x="8783049" y="3296719"/>
                  <a:pt x="8783459" y="3290968"/>
                  <a:pt x="8784281" y="3284395"/>
                </a:cubicBezTo>
                <a:cubicBezTo>
                  <a:pt x="8785103" y="3266318"/>
                  <a:pt x="8785513" y="3256047"/>
                  <a:pt x="8785513" y="3253582"/>
                </a:cubicBezTo>
                <a:cubicBezTo>
                  <a:pt x="8785513" y="3228933"/>
                  <a:pt x="8777092" y="3207570"/>
                  <a:pt x="8760247" y="3189493"/>
                </a:cubicBezTo>
                <a:cubicBezTo>
                  <a:pt x="8743404" y="3171417"/>
                  <a:pt x="8722657" y="3162379"/>
                  <a:pt x="8698007" y="3162379"/>
                </a:cubicBezTo>
                <a:cubicBezTo>
                  <a:pt x="8670893" y="3162379"/>
                  <a:pt x="8620771" y="3172033"/>
                  <a:pt x="8547644" y="3191342"/>
                </a:cubicBezTo>
                <a:cubicBezTo>
                  <a:pt x="8474518" y="3210651"/>
                  <a:pt x="8398514" y="3234273"/>
                  <a:pt x="8319635" y="3262210"/>
                </a:cubicBezTo>
                <a:cubicBezTo>
                  <a:pt x="8230075" y="3294254"/>
                  <a:pt x="8170916" y="3320753"/>
                  <a:pt x="8142158" y="3341705"/>
                </a:cubicBezTo>
                <a:cubicBezTo>
                  <a:pt x="8113400" y="3362657"/>
                  <a:pt x="8099021" y="3389566"/>
                  <a:pt x="8099021" y="3422433"/>
                </a:cubicBezTo>
                <a:cubicBezTo>
                  <a:pt x="8099021" y="3454477"/>
                  <a:pt x="8116686" y="3481592"/>
                  <a:pt x="8152017" y="3503776"/>
                </a:cubicBezTo>
                <a:cubicBezTo>
                  <a:pt x="8193100" y="3529248"/>
                  <a:pt x="8217955" y="3550816"/>
                  <a:pt x="8226583" y="3568482"/>
                </a:cubicBezTo>
                <a:cubicBezTo>
                  <a:pt x="8235210" y="3586147"/>
                  <a:pt x="8239524" y="3623327"/>
                  <a:pt x="8239524" y="3680021"/>
                </a:cubicBezTo>
                <a:cubicBezTo>
                  <a:pt x="8239524" y="3782728"/>
                  <a:pt x="8236648" y="3880916"/>
                  <a:pt x="8230896" y="3974585"/>
                </a:cubicBezTo>
                <a:cubicBezTo>
                  <a:pt x="8225966" y="4053464"/>
                  <a:pt x="8220626" y="4102968"/>
                  <a:pt x="8214874" y="4123099"/>
                </a:cubicBezTo>
                <a:cubicBezTo>
                  <a:pt x="8209123" y="4143229"/>
                  <a:pt x="8195565" y="4161101"/>
                  <a:pt x="8174202" y="4176712"/>
                </a:cubicBezTo>
                <a:cubicBezTo>
                  <a:pt x="8147910" y="4195610"/>
                  <a:pt x="8131271" y="4210194"/>
                  <a:pt x="8124287" y="4220465"/>
                </a:cubicBezTo>
                <a:cubicBezTo>
                  <a:pt x="8117303" y="4230736"/>
                  <a:pt x="8113810" y="4245731"/>
                  <a:pt x="8113810" y="4265451"/>
                </a:cubicBezTo>
                <a:cubicBezTo>
                  <a:pt x="8113810" y="4359941"/>
                  <a:pt x="8228021" y="4407186"/>
                  <a:pt x="8456441" y="4407186"/>
                </a:cubicBezTo>
                <a:cubicBezTo>
                  <a:pt x="8599409" y="4407186"/>
                  <a:pt x="8704581" y="4395683"/>
                  <a:pt x="8771956" y="4372677"/>
                </a:cubicBezTo>
                <a:cubicBezTo>
                  <a:pt x="8839332" y="4349670"/>
                  <a:pt x="8873019" y="4313928"/>
                  <a:pt x="8873019" y="4265451"/>
                </a:cubicBezTo>
                <a:cubicBezTo>
                  <a:pt x="8873019" y="4246553"/>
                  <a:pt x="8868501" y="4229709"/>
                  <a:pt x="8859463" y="4214919"/>
                </a:cubicBezTo>
                <a:cubicBezTo>
                  <a:pt x="8824953" y="4163155"/>
                  <a:pt x="8804617" y="4128234"/>
                  <a:pt x="8798455" y="4110158"/>
                </a:cubicBezTo>
                <a:cubicBezTo>
                  <a:pt x="8792292" y="4092081"/>
                  <a:pt x="8789211" y="4058805"/>
                  <a:pt x="8789211" y="4010327"/>
                </a:cubicBezTo>
                <a:lnTo>
                  <a:pt x="8789211" y="3766295"/>
                </a:lnTo>
                <a:cubicBezTo>
                  <a:pt x="8789211" y="3673448"/>
                  <a:pt x="8799481" y="3609359"/>
                  <a:pt x="8820023" y="3574028"/>
                </a:cubicBezTo>
                <a:cubicBezTo>
                  <a:pt x="8840565" y="3538697"/>
                  <a:pt x="8878361" y="3521031"/>
                  <a:pt x="8933411" y="3521031"/>
                </a:cubicBezTo>
                <a:cubicBezTo>
                  <a:pt x="8990927" y="3521031"/>
                  <a:pt x="9030367" y="3542805"/>
                  <a:pt x="9051729" y="3586353"/>
                </a:cubicBezTo>
                <a:cubicBezTo>
                  <a:pt x="9078023" y="3640582"/>
                  <a:pt x="9091169" y="3724391"/>
                  <a:pt x="9091169" y="3837779"/>
                </a:cubicBezTo>
                <a:cubicBezTo>
                  <a:pt x="9091169" y="4033333"/>
                  <a:pt x="9074737" y="4148365"/>
                  <a:pt x="9041870" y="4182874"/>
                </a:cubicBezTo>
                <a:cubicBezTo>
                  <a:pt x="9013934" y="4213276"/>
                  <a:pt x="8997501" y="4232379"/>
                  <a:pt x="8992571" y="4240185"/>
                </a:cubicBezTo>
                <a:cubicBezTo>
                  <a:pt x="8987641" y="4247991"/>
                  <a:pt x="8985175" y="4260110"/>
                  <a:pt x="8985175" y="4276543"/>
                </a:cubicBezTo>
                <a:cubicBezTo>
                  <a:pt x="8985175" y="4322556"/>
                  <a:pt x="9009415" y="4355833"/>
                  <a:pt x="9057892" y="4376374"/>
                </a:cubicBezTo>
                <a:cubicBezTo>
                  <a:pt x="9104727" y="4396094"/>
                  <a:pt x="9184838" y="4405954"/>
                  <a:pt x="9298226" y="4405954"/>
                </a:cubicBezTo>
                <a:cubicBezTo>
                  <a:pt x="9465023" y="4405954"/>
                  <a:pt x="9580876" y="4395272"/>
                  <a:pt x="9645786" y="4373909"/>
                </a:cubicBezTo>
                <a:cubicBezTo>
                  <a:pt x="9710697" y="4352546"/>
                  <a:pt x="9743153" y="4314750"/>
                  <a:pt x="9743153" y="4260521"/>
                </a:cubicBezTo>
                <a:cubicBezTo>
                  <a:pt x="9743153" y="4236693"/>
                  <a:pt x="9736990" y="4218206"/>
                  <a:pt x="9724665" y="4205059"/>
                </a:cubicBezTo>
                <a:cubicBezTo>
                  <a:pt x="9682761" y="4160690"/>
                  <a:pt x="9657495" y="4130699"/>
                  <a:pt x="9648868" y="4115088"/>
                </a:cubicBezTo>
                <a:cubicBezTo>
                  <a:pt x="9640240" y="4099476"/>
                  <a:pt x="9635105" y="4075238"/>
                  <a:pt x="9633462" y="4042371"/>
                </a:cubicBezTo>
                <a:lnTo>
                  <a:pt x="9616207" y="3608537"/>
                </a:lnTo>
                <a:cubicBezTo>
                  <a:pt x="9611277" y="3507474"/>
                  <a:pt x="9598542" y="3430855"/>
                  <a:pt x="9578000" y="3378679"/>
                </a:cubicBezTo>
                <a:cubicBezTo>
                  <a:pt x="9557459" y="3326504"/>
                  <a:pt x="9521306" y="3281108"/>
                  <a:pt x="9469541" y="3242490"/>
                </a:cubicBezTo>
                <a:cubicBezTo>
                  <a:pt x="9395592" y="3188261"/>
                  <a:pt x="9306854" y="3161146"/>
                  <a:pt x="9203325" y="3161146"/>
                </a:cubicBezTo>
                <a:close/>
                <a:moveTo>
                  <a:pt x="5075694" y="3153751"/>
                </a:moveTo>
                <a:cubicBezTo>
                  <a:pt x="4977917" y="3153751"/>
                  <a:pt x="4887124" y="3171417"/>
                  <a:pt x="4803315" y="3206748"/>
                </a:cubicBezTo>
                <a:cubicBezTo>
                  <a:pt x="4691570" y="3253582"/>
                  <a:pt x="4599544" y="3324655"/>
                  <a:pt x="4527239" y="3419968"/>
                </a:cubicBezTo>
                <a:cubicBezTo>
                  <a:pt x="4443430" y="3530069"/>
                  <a:pt x="4401526" y="3654139"/>
                  <a:pt x="4401526" y="3792177"/>
                </a:cubicBezTo>
                <a:cubicBezTo>
                  <a:pt x="4401526" y="3894884"/>
                  <a:pt x="4425764" y="3992661"/>
                  <a:pt x="4474243" y="4085508"/>
                </a:cubicBezTo>
                <a:cubicBezTo>
                  <a:pt x="4511217" y="4155349"/>
                  <a:pt x="4558051" y="4214919"/>
                  <a:pt x="4614745" y="4264218"/>
                </a:cubicBezTo>
                <a:cubicBezTo>
                  <a:pt x="4731420" y="4364460"/>
                  <a:pt x="4876032" y="4414581"/>
                  <a:pt x="5048579" y="4414581"/>
                </a:cubicBezTo>
                <a:cubicBezTo>
                  <a:pt x="5219483" y="4414581"/>
                  <a:pt x="5370257" y="4365693"/>
                  <a:pt x="5500900" y="4267916"/>
                </a:cubicBezTo>
                <a:cubicBezTo>
                  <a:pt x="5574849" y="4212865"/>
                  <a:pt x="5611824" y="4155760"/>
                  <a:pt x="5611824" y="4096601"/>
                </a:cubicBezTo>
                <a:cubicBezTo>
                  <a:pt x="5611824" y="4068664"/>
                  <a:pt x="5601554" y="4041550"/>
                  <a:pt x="5581012" y="4015257"/>
                </a:cubicBezTo>
                <a:cubicBezTo>
                  <a:pt x="5560470" y="3988964"/>
                  <a:pt x="5539518" y="3975817"/>
                  <a:pt x="5518155" y="3975817"/>
                </a:cubicBezTo>
                <a:cubicBezTo>
                  <a:pt x="5501722" y="3975817"/>
                  <a:pt x="5479537" y="3985677"/>
                  <a:pt x="5451602" y="4005397"/>
                </a:cubicBezTo>
                <a:cubicBezTo>
                  <a:pt x="5420378" y="4027582"/>
                  <a:pt x="5380733" y="4046274"/>
                  <a:pt x="5332667" y="4061475"/>
                </a:cubicBezTo>
                <a:cubicBezTo>
                  <a:pt x="5284600" y="4076675"/>
                  <a:pt x="5240847" y="4084276"/>
                  <a:pt x="5201407" y="4084276"/>
                </a:cubicBezTo>
                <a:cubicBezTo>
                  <a:pt x="5134853" y="4084276"/>
                  <a:pt x="5072613" y="4060653"/>
                  <a:pt x="5014686" y="4013408"/>
                </a:cubicBezTo>
                <a:cubicBezTo>
                  <a:pt x="4956759" y="3966163"/>
                  <a:pt x="4927796" y="3915837"/>
                  <a:pt x="4927796" y="3862429"/>
                </a:cubicBezTo>
                <a:cubicBezTo>
                  <a:pt x="4927796" y="3840244"/>
                  <a:pt x="4940531" y="3829152"/>
                  <a:pt x="4966003" y="3829152"/>
                </a:cubicBezTo>
                <a:lnTo>
                  <a:pt x="5545270" y="3829152"/>
                </a:lnTo>
                <a:cubicBezTo>
                  <a:pt x="5580601" y="3829152"/>
                  <a:pt x="5609359" y="3812102"/>
                  <a:pt x="5631544" y="3778004"/>
                </a:cubicBezTo>
                <a:cubicBezTo>
                  <a:pt x="5653728" y="3743905"/>
                  <a:pt x="5664820" y="3700152"/>
                  <a:pt x="5664820" y="3646744"/>
                </a:cubicBezTo>
                <a:cubicBezTo>
                  <a:pt x="5664820" y="3581012"/>
                  <a:pt x="5645512" y="3513636"/>
                  <a:pt x="5606895" y="3444617"/>
                </a:cubicBezTo>
                <a:cubicBezTo>
                  <a:pt x="5573206" y="3383815"/>
                  <a:pt x="5528837" y="3331229"/>
                  <a:pt x="5473786" y="3286859"/>
                </a:cubicBezTo>
                <a:cubicBezTo>
                  <a:pt x="5364506" y="3198121"/>
                  <a:pt x="5231809" y="3153751"/>
                  <a:pt x="5075694" y="3153751"/>
                </a:cubicBezTo>
                <a:close/>
                <a:moveTo>
                  <a:pt x="3308198" y="2697733"/>
                </a:moveTo>
                <a:cubicBezTo>
                  <a:pt x="3220280" y="2697733"/>
                  <a:pt x="3102372" y="2718274"/>
                  <a:pt x="2954475" y="2759357"/>
                </a:cubicBezTo>
                <a:cubicBezTo>
                  <a:pt x="2845195" y="2788936"/>
                  <a:pt x="2771246" y="2816462"/>
                  <a:pt x="2732628" y="2841933"/>
                </a:cubicBezTo>
                <a:cubicBezTo>
                  <a:pt x="2694010" y="2867404"/>
                  <a:pt x="2674702" y="2900681"/>
                  <a:pt x="2674702" y="2941764"/>
                </a:cubicBezTo>
                <a:cubicBezTo>
                  <a:pt x="2674702" y="2976274"/>
                  <a:pt x="2700173" y="3006675"/>
                  <a:pt x="2751115" y="3032968"/>
                </a:cubicBezTo>
                <a:cubicBezTo>
                  <a:pt x="2774943" y="3045293"/>
                  <a:pt x="2791171" y="3057412"/>
                  <a:pt x="2799798" y="3069326"/>
                </a:cubicBezTo>
                <a:cubicBezTo>
                  <a:pt x="2808426" y="3081240"/>
                  <a:pt x="2814383" y="3099933"/>
                  <a:pt x="2817669" y="3125404"/>
                </a:cubicBezTo>
                <a:cubicBezTo>
                  <a:pt x="2827529" y="3193601"/>
                  <a:pt x="2832459" y="3316028"/>
                  <a:pt x="2832459" y="3492684"/>
                </a:cubicBezTo>
                <a:cubicBezTo>
                  <a:pt x="2832459" y="3717818"/>
                  <a:pt x="2826502" y="3879067"/>
                  <a:pt x="2814588" y="3976434"/>
                </a:cubicBezTo>
                <a:cubicBezTo>
                  <a:pt x="2802674" y="4073800"/>
                  <a:pt x="2781106" y="4133575"/>
                  <a:pt x="2749883" y="4155760"/>
                </a:cubicBezTo>
                <a:cubicBezTo>
                  <a:pt x="2714552" y="4180409"/>
                  <a:pt x="2692367" y="4198691"/>
                  <a:pt x="2683329" y="4210605"/>
                </a:cubicBezTo>
                <a:cubicBezTo>
                  <a:pt x="2674290" y="4222519"/>
                  <a:pt x="2669771" y="4239569"/>
                  <a:pt x="2669771" y="4261753"/>
                </a:cubicBezTo>
                <a:cubicBezTo>
                  <a:pt x="2669771" y="4357887"/>
                  <a:pt x="2811096" y="4405954"/>
                  <a:pt x="3093745" y="4405954"/>
                </a:cubicBezTo>
                <a:cubicBezTo>
                  <a:pt x="3335312" y="4405954"/>
                  <a:pt x="3456095" y="4359530"/>
                  <a:pt x="3456095" y="4266683"/>
                </a:cubicBezTo>
                <a:cubicBezTo>
                  <a:pt x="3456095" y="4243677"/>
                  <a:pt x="3448290" y="4223546"/>
                  <a:pt x="3432678" y="4206292"/>
                </a:cubicBezTo>
                <a:cubicBezTo>
                  <a:pt x="3398991" y="4168495"/>
                  <a:pt x="3380092" y="4142613"/>
                  <a:pt x="3375984" y="4128645"/>
                </a:cubicBezTo>
                <a:cubicBezTo>
                  <a:pt x="3371876" y="4114677"/>
                  <a:pt x="3366946" y="4055107"/>
                  <a:pt x="3361194" y="3949935"/>
                </a:cubicBezTo>
                <a:lnTo>
                  <a:pt x="3361194" y="3712066"/>
                </a:lnTo>
                <a:cubicBezTo>
                  <a:pt x="3361194" y="3639760"/>
                  <a:pt x="3369822" y="3590461"/>
                  <a:pt x="3387076" y="3564168"/>
                </a:cubicBezTo>
                <a:cubicBezTo>
                  <a:pt x="3410904" y="3528015"/>
                  <a:pt x="3447879" y="3509939"/>
                  <a:pt x="3498000" y="3509939"/>
                </a:cubicBezTo>
                <a:cubicBezTo>
                  <a:pt x="3567841" y="3509939"/>
                  <a:pt x="3616318" y="3544037"/>
                  <a:pt x="3643433" y="3612235"/>
                </a:cubicBezTo>
                <a:cubicBezTo>
                  <a:pt x="3663975" y="3662356"/>
                  <a:pt x="3674245" y="3742056"/>
                  <a:pt x="3674245" y="3851337"/>
                </a:cubicBezTo>
                <a:cubicBezTo>
                  <a:pt x="3674245" y="4032101"/>
                  <a:pt x="3656990" y="4145078"/>
                  <a:pt x="3622480" y="4190269"/>
                </a:cubicBezTo>
                <a:cubicBezTo>
                  <a:pt x="3597831" y="4222314"/>
                  <a:pt x="3583452" y="4242034"/>
                  <a:pt x="3579344" y="4249428"/>
                </a:cubicBezTo>
                <a:cubicBezTo>
                  <a:pt x="3575236" y="4256823"/>
                  <a:pt x="3573181" y="4267505"/>
                  <a:pt x="3573181" y="4281473"/>
                </a:cubicBezTo>
                <a:cubicBezTo>
                  <a:pt x="3573181" y="4364460"/>
                  <a:pt x="3692321" y="4405954"/>
                  <a:pt x="3930601" y="4405954"/>
                </a:cubicBezTo>
                <a:cubicBezTo>
                  <a:pt x="4198461" y="4405954"/>
                  <a:pt x="4332390" y="4361584"/>
                  <a:pt x="4332390" y="4272846"/>
                </a:cubicBezTo>
                <a:cubicBezTo>
                  <a:pt x="4332390" y="4246553"/>
                  <a:pt x="4320476" y="4223957"/>
                  <a:pt x="4296649" y="4205059"/>
                </a:cubicBezTo>
                <a:cubicBezTo>
                  <a:pt x="4262139" y="4177944"/>
                  <a:pt x="4240160" y="4155349"/>
                  <a:pt x="4230711" y="4137273"/>
                </a:cubicBezTo>
                <a:cubicBezTo>
                  <a:pt x="4221262" y="4119196"/>
                  <a:pt x="4216127" y="4090849"/>
                  <a:pt x="4215305" y="4052231"/>
                </a:cubicBezTo>
                <a:lnTo>
                  <a:pt x="4204212" y="3607305"/>
                </a:lnTo>
                <a:cubicBezTo>
                  <a:pt x="4202569" y="3516923"/>
                  <a:pt x="4194558" y="3447493"/>
                  <a:pt x="4180179" y="3399015"/>
                </a:cubicBezTo>
                <a:cubicBezTo>
                  <a:pt x="4165800" y="3350538"/>
                  <a:pt x="4141356" y="3308633"/>
                  <a:pt x="4106846" y="3273302"/>
                </a:cubicBezTo>
                <a:cubicBezTo>
                  <a:pt x="4029611" y="3193601"/>
                  <a:pt x="3925671" y="3153751"/>
                  <a:pt x="3795028" y="3153751"/>
                </a:cubicBezTo>
                <a:cubicBezTo>
                  <a:pt x="3661920" y="3153751"/>
                  <a:pt x="3555516" y="3211678"/>
                  <a:pt x="3475815" y="3327531"/>
                </a:cubicBezTo>
                <a:cubicBezTo>
                  <a:pt x="3456917" y="3354646"/>
                  <a:pt x="3437608" y="3368203"/>
                  <a:pt x="3417889" y="3368203"/>
                </a:cubicBezTo>
                <a:cubicBezTo>
                  <a:pt x="3378449" y="3368203"/>
                  <a:pt x="3359551" y="3337391"/>
                  <a:pt x="3361194" y="3275767"/>
                </a:cubicBezTo>
                <a:lnTo>
                  <a:pt x="3377217" y="2759357"/>
                </a:lnTo>
                <a:cubicBezTo>
                  <a:pt x="3378860" y="2718274"/>
                  <a:pt x="3355854" y="2697733"/>
                  <a:pt x="3308198" y="2697733"/>
                </a:cubicBezTo>
                <a:close/>
                <a:moveTo>
                  <a:pt x="11151434" y="2696500"/>
                </a:moveTo>
                <a:cubicBezTo>
                  <a:pt x="11079950" y="2696500"/>
                  <a:pt x="10939037" y="2725669"/>
                  <a:pt x="10728692" y="2784006"/>
                </a:cubicBezTo>
                <a:cubicBezTo>
                  <a:pt x="10609553" y="2817694"/>
                  <a:pt x="10549982" y="2864529"/>
                  <a:pt x="10549982" y="2924509"/>
                </a:cubicBezTo>
                <a:cubicBezTo>
                  <a:pt x="10549982" y="2965592"/>
                  <a:pt x="10575865" y="2994350"/>
                  <a:pt x="10627629" y="3010783"/>
                </a:cubicBezTo>
                <a:cubicBezTo>
                  <a:pt x="10664603" y="3022286"/>
                  <a:pt x="10690281" y="3036049"/>
                  <a:pt x="10704659" y="3052072"/>
                </a:cubicBezTo>
                <a:cubicBezTo>
                  <a:pt x="10719038" y="3068094"/>
                  <a:pt x="10726228" y="3091305"/>
                  <a:pt x="10726228" y="3121707"/>
                </a:cubicBezTo>
                <a:cubicBezTo>
                  <a:pt x="10726228" y="3192369"/>
                  <a:pt x="10713082" y="3227700"/>
                  <a:pt x="10686788" y="3227700"/>
                </a:cubicBezTo>
                <a:cubicBezTo>
                  <a:pt x="10679393" y="3227700"/>
                  <a:pt x="10669533" y="3224413"/>
                  <a:pt x="10657208" y="3217840"/>
                </a:cubicBezTo>
                <a:cubicBezTo>
                  <a:pt x="10581617" y="3175114"/>
                  <a:pt x="10496164" y="3153751"/>
                  <a:pt x="10400852" y="3153751"/>
                </a:cubicBezTo>
                <a:cubicBezTo>
                  <a:pt x="10317865" y="3153751"/>
                  <a:pt x="10233645" y="3175936"/>
                  <a:pt x="10148193" y="3220305"/>
                </a:cubicBezTo>
                <a:cubicBezTo>
                  <a:pt x="10046308" y="3273713"/>
                  <a:pt x="9965786" y="3350127"/>
                  <a:pt x="9906626" y="3449547"/>
                </a:cubicBezTo>
                <a:cubicBezTo>
                  <a:pt x="9842537" y="3557184"/>
                  <a:pt x="9810493" y="3668929"/>
                  <a:pt x="9810493" y="3784782"/>
                </a:cubicBezTo>
                <a:cubicBezTo>
                  <a:pt x="9810493" y="3883381"/>
                  <a:pt x="9835142" y="3980747"/>
                  <a:pt x="9884442" y="4076881"/>
                </a:cubicBezTo>
                <a:cubicBezTo>
                  <a:pt x="9921416" y="4150830"/>
                  <a:pt x="9969894" y="4216151"/>
                  <a:pt x="10029875" y="4272846"/>
                </a:cubicBezTo>
                <a:cubicBezTo>
                  <a:pt x="10131760" y="4367336"/>
                  <a:pt x="10246381" y="4414581"/>
                  <a:pt x="10373737" y="4414581"/>
                </a:cubicBezTo>
                <a:cubicBezTo>
                  <a:pt x="10476444" y="4414581"/>
                  <a:pt x="10569702" y="4380483"/>
                  <a:pt x="10653511" y="4312285"/>
                </a:cubicBezTo>
                <a:cubicBezTo>
                  <a:pt x="10683091" y="4287635"/>
                  <a:pt x="10704865" y="4275311"/>
                  <a:pt x="10718833" y="4275311"/>
                </a:cubicBezTo>
                <a:cubicBezTo>
                  <a:pt x="10744304" y="4275311"/>
                  <a:pt x="10759094" y="4296263"/>
                  <a:pt x="10763202" y="4338167"/>
                </a:cubicBezTo>
                <a:cubicBezTo>
                  <a:pt x="10765667" y="4367747"/>
                  <a:pt x="10770803" y="4386439"/>
                  <a:pt x="10778608" y="4394245"/>
                </a:cubicBezTo>
                <a:cubicBezTo>
                  <a:pt x="10786415" y="4402051"/>
                  <a:pt x="10803463" y="4405954"/>
                  <a:pt x="10829756" y="4405954"/>
                </a:cubicBezTo>
                <a:cubicBezTo>
                  <a:pt x="10948896" y="4405954"/>
                  <a:pt x="11068037" y="4390753"/>
                  <a:pt x="11187176" y="4360352"/>
                </a:cubicBezTo>
                <a:cubicBezTo>
                  <a:pt x="11319463" y="4325842"/>
                  <a:pt x="11385606" y="4275721"/>
                  <a:pt x="11385606" y="4209989"/>
                </a:cubicBezTo>
                <a:cubicBezTo>
                  <a:pt x="11385606" y="4187804"/>
                  <a:pt x="11380471" y="4168906"/>
                  <a:pt x="11370200" y="4153295"/>
                </a:cubicBezTo>
                <a:cubicBezTo>
                  <a:pt x="11359930" y="4137683"/>
                  <a:pt x="11340004" y="4119607"/>
                  <a:pt x="11310424" y="4099066"/>
                </a:cubicBezTo>
                <a:cubicBezTo>
                  <a:pt x="11285775" y="4081811"/>
                  <a:pt x="11270780" y="4064145"/>
                  <a:pt x="11265439" y="4046069"/>
                </a:cubicBezTo>
                <a:cubicBezTo>
                  <a:pt x="11260098" y="4027992"/>
                  <a:pt x="11257428" y="3986910"/>
                  <a:pt x="11257428" y="3922821"/>
                </a:cubicBezTo>
                <a:lnTo>
                  <a:pt x="11257428" y="2797564"/>
                </a:lnTo>
                <a:cubicBezTo>
                  <a:pt x="11257428" y="2730188"/>
                  <a:pt x="11222097" y="2696500"/>
                  <a:pt x="11151434" y="2696500"/>
                </a:cubicBezTo>
                <a:close/>
                <a:moveTo>
                  <a:pt x="2354916" y="2660758"/>
                </a:moveTo>
                <a:cubicBezTo>
                  <a:pt x="2336018" y="2660758"/>
                  <a:pt x="2314244" y="2664045"/>
                  <a:pt x="2289595" y="2670618"/>
                </a:cubicBezTo>
                <a:cubicBezTo>
                  <a:pt x="2232079" y="2687051"/>
                  <a:pt x="2168401" y="2696500"/>
                  <a:pt x="2098560" y="2698965"/>
                </a:cubicBezTo>
                <a:lnTo>
                  <a:pt x="1449041" y="2698965"/>
                </a:lnTo>
                <a:cubicBezTo>
                  <a:pt x="1412067" y="2698965"/>
                  <a:pt x="1379406" y="2697322"/>
                  <a:pt x="1351059" y="2694035"/>
                </a:cubicBezTo>
                <a:cubicBezTo>
                  <a:pt x="1322712" y="2690749"/>
                  <a:pt x="1286353" y="2684586"/>
                  <a:pt x="1241984" y="2675548"/>
                </a:cubicBezTo>
                <a:cubicBezTo>
                  <a:pt x="1220621" y="2670618"/>
                  <a:pt x="1201723" y="2668153"/>
                  <a:pt x="1185290" y="2668153"/>
                </a:cubicBezTo>
                <a:cubicBezTo>
                  <a:pt x="1124487" y="2668153"/>
                  <a:pt x="1062863" y="2710057"/>
                  <a:pt x="1000417" y="2793866"/>
                </a:cubicBezTo>
                <a:cubicBezTo>
                  <a:pt x="961800" y="2845630"/>
                  <a:pt x="930988" y="2902120"/>
                  <a:pt x="907981" y="2963333"/>
                </a:cubicBezTo>
                <a:cubicBezTo>
                  <a:pt x="884975" y="3024546"/>
                  <a:pt x="873471" y="3080624"/>
                  <a:pt x="873471" y="3131567"/>
                </a:cubicBezTo>
                <a:cubicBezTo>
                  <a:pt x="873471" y="3183331"/>
                  <a:pt x="887850" y="3225851"/>
                  <a:pt x="916609" y="3259129"/>
                </a:cubicBezTo>
                <a:cubicBezTo>
                  <a:pt x="945366" y="3292406"/>
                  <a:pt x="981930" y="3309044"/>
                  <a:pt x="1026299" y="3309044"/>
                </a:cubicBezTo>
                <a:cubicBezTo>
                  <a:pt x="1065739" y="3309044"/>
                  <a:pt x="1106411" y="3293022"/>
                  <a:pt x="1148315" y="3260977"/>
                </a:cubicBezTo>
                <a:cubicBezTo>
                  <a:pt x="1183647" y="3233863"/>
                  <a:pt x="1228837" y="3178401"/>
                  <a:pt x="1283888" y="3094592"/>
                </a:cubicBezTo>
                <a:cubicBezTo>
                  <a:pt x="1314290" y="3048579"/>
                  <a:pt x="1345513" y="3025573"/>
                  <a:pt x="1377557" y="3025573"/>
                </a:cubicBezTo>
                <a:cubicBezTo>
                  <a:pt x="1403850" y="3025573"/>
                  <a:pt x="1422748" y="3041184"/>
                  <a:pt x="1434251" y="3072407"/>
                </a:cubicBezTo>
                <a:cubicBezTo>
                  <a:pt x="1445755" y="3103630"/>
                  <a:pt x="1451506" y="3156216"/>
                  <a:pt x="1451506" y="3230165"/>
                </a:cubicBezTo>
                <a:cubicBezTo>
                  <a:pt x="1451506" y="3335337"/>
                  <a:pt x="1448630" y="3459612"/>
                  <a:pt x="1442879" y="3602991"/>
                </a:cubicBezTo>
                <a:cubicBezTo>
                  <a:pt x="1437127" y="3746370"/>
                  <a:pt x="1430965" y="3850104"/>
                  <a:pt x="1424392" y="3914193"/>
                </a:cubicBezTo>
                <a:cubicBezTo>
                  <a:pt x="1416997" y="3986499"/>
                  <a:pt x="1407342" y="4035387"/>
                  <a:pt x="1395428" y="4060859"/>
                </a:cubicBezTo>
                <a:cubicBezTo>
                  <a:pt x="1383514" y="4086330"/>
                  <a:pt x="1361946" y="4103585"/>
                  <a:pt x="1330723" y="4112623"/>
                </a:cubicBezTo>
                <a:cubicBezTo>
                  <a:pt x="1279780" y="4128234"/>
                  <a:pt x="1250611" y="4138094"/>
                  <a:pt x="1243217" y="4142202"/>
                </a:cubicBezTo>
                <a:cubicBezTo>
                  <a:pt x="1213637" y="4161100"/>
                  <a:pt x="1198847" y="4187393"/>
                  <a:pt x="1198847" y="4221081"/>
                </a:cubicBezTo>
                <a:cubicBezTo>
                  <a:pt x="1198847" y="4283527"/>
                  <a:pt x="1240341" y="4328718"/>
                  <a:pt x="1323328" y="4356654"/>
                </a:cubicBezTo>
                <a:cubicBezTo>
                  <a:pt x="1421927" y="4390342"/>
                  <a:pt x="1573111" y="4407186"/>
                  <a:pt x="1776882" y="4407186"/>
                </a:cubicBezTo>
                <a:cubicBezTo>
                  <a:pt x="1942856" y="4407186"/>
                  <a:pt x="2065899" y="4392807"/>
                  <a:pt x="2146010" y="4364049"/>
                </a:cubicBezTo>
                <a:cubicBezTo>
                  <a:pt x="2226122" y="4335291"/>
                  <a:pt x="2266178" y="4291333"/>
                  <a:pt x="2266178" y="4232174"/>
                </a:cubicBezTo>
                <a:cubicBezTo>
                  <a:pt x="2266178" y="4202594"/>
                  <a:pt x="2258167" y="4179382"/>
                  <a:pt x="2242144" y="4162538"/>
                </a:cubicBezTo>
                <a:cubicBezTo>
                  <a:pt x="2226122" y="4145694"/>
                  <a:pt x="2195926" y="4127823"/>
                  <a:pt x="2151556" y="4108925"/>
                </a:cubicBezTo>
                <a:cubicBezTo>
                  <a:pt x="2110474" y="4091671"/>
                  <a:pt x="2082537" y="4067021"/>
                  <a:pt x="2067748" y="4034976"/>
                </a:cubicBezTo>
                <a:cubicBezTo>
                  <a:pt x="2052958" y="4002932"/>
                  <a:pt x="2045563" y="3951579"/>
                  <a:pt x="2045563" y="3880916"/>
                </a:cubicBezTo>
                <a:lnTo>
                  <a:pt x="2045563" y="3190726"/>
                </a:lnTo>
                <a:cubicBezTo>
                  <a:pt x="2045563" y="3132388"/>
                  <a:pt x="2052136" y="3090484"/>
                  <a:pt x="2065283" y="3065012"/>
                </a:cubicBezTo>
                <a:cubicBezTo>
                  <a:pt x="2078429" y="3039541"/>
                  <a:pt x="2100203" y="3026805"/>
                  <a:pt x="2130604" y="3026805"/>
                </a:cubicBezTo>
                <a:cubicBezTo>
                  <a:pt x="2152789" y="3026805"/>
                  <a:pt x="2171687" y="3034611"/>
                  <a:pt x="2187299" y="3050223"/>
                </a:cubicBezTo>
                <a:cubicBezTo>
                  <a:pt x="2202910" y="3065834"/>
                  <a:pt x="2224273" y="3099111"/>
                  <a:pt x="2251387" y="3150054"/>
                </a:cubicBezTo>
                <a:cubicBezTo>
                  <a:pt x="2282610" y="3205926"/>
                  <a:pt x="2314244" y="3245982"/>
                  <a:pt x="2346288" y="3270221"/>
                </a:cubicBezTo>
                <a:cubicBezTo>
                  <a:pt x="2378334" y="3294460"/>
                  <a:pt x="2416129" y="3306579"/>
                  <a:pt x="2459677" y="3306579"/>
                </a:cubicBezTo>
                <a:cubicBezTo>
                  <a:pt x="2505690" y="3306579"/>
                  <a:pt x="2545129" y="3294254"/>
                  <a:pt x="2577996" y="3269605"/>
                </a:cubicBezTo>
                <a:cubicBezTo>
                  <a:pt x="2621544" y="3236738"/>
                  <a:pt x="2643317" y="3184563"/>
                  <a:pt x="2643317" y="3113079"/>
                </a:cubicBezTo>
                <a:cubicBezTo>
                  <a:pt x="2643317" y="3008729"/>
                  <a:pt x="2611889" y="2907255"/>
                  <a:pt x="2549033" y="2808656"/>
                </a:cubicBezTo>
                <a:cubicBezTo>
                  <a:pt x="2486176" y="2710057"/>
                  <a:pt x="2421470" y="2660758"/>
                  <a:pt x="2354916" y="2660758"/>
                </a:cubicBezTo>
                <a:close/>
                <a:moveTo>
                  <a:pt x="7762209" y="2650898"/>
                </a:moveTo>
                <a:cubicBezTo>
                  <a:pt x="7752349" y="2650898"/>
                  <a:pt x="7738792" y="2653363"/>
                  <a:pt x="7721537" y="2658293"/>
                </a:cubicBezTo>
                <a:cubicBezTo>
                  <a:pt x="7665665" y="2674726"/>
                  <a:pt x="7608354" y="2685613"/>
                  <a:pt x="7549606" y="2690954"/>
                </a:cubicBezTo>
                <a:cubicBezTo>
                  <a:pt x="7490857" y="2696295"/>
                  <a:pt x="7397394" y="2698965"/>
                  <a:pt x="7269216" y="2698965"/>
                </a:cubicBezTo>
                <a:lnTo>
                  <a:pt x="6635720" y="2698965"/>
                </a:lnTo>
                <a:cubicBezTo>
                  <a:pt x="6543694" y="2698965"/>
                  <a:pt x="6481660" y="2702662"/>
                  <a:pt x="6449614" y="2710057"/>
                </a:cubicBezTo>
                <a:cubicBezTo>
                  <a:pt x="6424143" y="2716631"/>
                  <a:pt x="6403602" y="2730188"/>
                  <a:pt x="6387990" y="2750729"/>
                </a:cubicBezTo>
                <a:cubicBezTo>
                  <a:pt x="6372379" y="2771271"/>
                  <a:pt x="6364573" y="2794688"/>
                  <a:pt x="6364573" y="2820981"/>
                </a:cubicBezTo>
                <a:cubicBezTo>
                  <a:pt x="6364573" y="2869459"/>
                  <a:pt x="6387990" y="2900681"/>
                  <a:pt x="6434825" y="2914650"/>
                </a:cubicBezTo>
                <a:cubicBezTo>
                  <a:pt x="6466048" y="2923688"/>
                  <a:pt x="6486589" y="2931493"/>
                  <a:pt x="6496449" y="2938067"/>
                </a:cubicBezTo>
                <a:cubicBezTo>
                  <a:pt x="6506309" y="2944640"/>
                  <a:pt x="6515347" y="2956143"/>
                  <a:pt x="6523564" y="2972576"/>
                </a:cubicBezTo>
                <a:cubicBezTo>
                  <a:pt x="6563003" y="3055563"/>
                  <a:pt x="6582723" y="3255636"/>
                  <a:pt x="6582723" y="3572795"/>
                </a:cubicBezTo>
                <a:cubicBezTo>
                  <a:pt x="6582723" y="3783139"/>
                  <a:pt x="6569165" y="3950346"/>
                  <a:pt x="6542051" y="4074416"/>
                </a:cubicBezTo>
                <a:cubicBezTo>
                  <a:pt x="6535478" y="4104817"/>
                  <a:pt x="6526234" y="4127823"/>
                  <a:pt x="6514320" y="4143435"/>
                </a:cubicBezTo>
                <a:cubicBezTo>
                  <a:pt x="6502406" y="4159046"/>
                  <a:pt x="6484124" y="4172193"/>
                  <a:pt x="6459474" y="4182874"/>
                </a:cubicBezTo>
                <a:cubicBezTo>
                  <a:pt x="6424143" y="4199307"/>
                  <a:pt x="6401548" y="4212865"/>
                  <a:pt x="6391688" y="4223546"/>
                </a:cubicBezTo>
                <a:cubicBezTo>
                  <a:pt x="6381828" y="4234228"/>
                  <a:pt x="6376898" y="4251483"/>
                  <a:pt x="6376898" y="4275311"/>
                </a:cubicBezTo>
                <a:cubicBezTo>
                  <a:pt x="6376898" y="4308998"/>
                  <a:pt x="6388401" y="4335086"/>
                  <a:pt x="6411408" y="4353573"/>
                </a:cubicBezTo>
                <a:cubicBezTo>
                  <a:pt x="6434414" y="4372060"/>
                  <a:pt x="6466869" y="4381304"/>
                  <a:pt x="6508774" y="4381304"/>
                </a:cubicBezTo>
                <a:lnTo>
                  <a:pt x="7553919" y="4381304"/>
                </a:lnTo>
                <a:cubicBezTo>
                  <a:pt x="7641836" y="4383769"/>
                  <a:pt x="7712088" y="4389931"/>
                  <a:pt x="7764674" y="4399791"/>
                </a:cubicBezTo>
                <a:cubicBezTo>
                  <a:pt x="7794253" y="4404721"/>
                  <a:pt x="7816849" y="4407186"/>
                  <a:pt x="7832460" y="4407186"/>
                </a:cubicBezTo>
                <a:cubicBezTo>
                  <a:pt x="7851358" y="4407186"/>
                  <a:pt x="7866970" y="4402462"/>
                  <a:pt x="7879295" y="4393013"/>
                </a:cubicBezTo>
                <a:cubicBezTo>
                  <a:pt x="7891619" y="4383564"/>
                  <a:pt x="7907231" y="4364871"/>
                  <a:pt x="7926129" y="4336935"/>
                </a:cubicBezTo>
                <a:cubicBezTo>
                  <a:pt x="7963103" y="4279419"/>
                  <a:pt x="7994326" y="4213686"/>
                  <a:pt x="8019798" y="4139738"/>
                </a:cubicBezTo>
                <a:cubicBezTo>
                  <a:pt x="8045269" y="4065789"/>
                  <a:pt x="8058005" y="4004164"/>
                  <a:pt x="8058005" y="3954865"/>
                </a:cubicBezTo>
                <a:cubicBezTo>
                  <a:pt x="8058005" y="3909674"/>
                  <a:pt x="8046707" y="3872083"/>
                  <a:pt x="8024111" y="3842093"/>
                </a:cubicBezTo>
                <a:cubicBezTo>
                  <a:pt x="8001516" y="3812102"/>
                  <a:pt x="7972963" y="3797107"/>
                  <a:pt x="7938454" y="3797107"/>
                </a:cubicBezTo>
                <a:cubicBezTo>
                  <a:pt x="7908874" y="3797107"/>
                  <a:pt x="7884841" y="3805324"/>
                  <a:pt x="7866353" y="3821757"/>
                </a:cubicBezTo>
                <a:cubicBezTo>
                  <a:pt x="7847866" y="3838190"/>
                  <a:pt x="7827120" y="3870235"/>
                  <a:pt x="7804113" y="3917891"/>
                </a:cubicBezTo>
                <a:cubicBezTo>
                  <a:pt x="7764674" y="4000878"/>
                  <a:pt x="7713731" y="4058188"/>
                  <a:pt x="7651285" y="4089822"/>
                </a:cubicBezTo>
                <a:cubicBezTo>
                  <a:pt x="7588840" y="4121456"/>
                  <a:pt x="7495992" y="4137273"/>
                  <a:pt x="7372745" y="4137273"/>
                </a:cubicBezTo>
                <a:cubicBezTo>
                  <a:pt x="7293044" y="4137273"/>
                  <a:pt x="7236144" y="4132548"/>
                  <a:pt x="7202046" y="4123099"/>
                </a:cubicBezTo>
                <a:cubicBezTo>
                  <a:pt x="7167947" y="4113650"/>
                  <a:pt x="7147611" y="4096601"/>
                  <a:pt x="7141038" y="4071951"/>
                </a:cubicBezTo>
                <a:cubicBezTo>
                  <a:pt x="7135286" y="4052231"/>
                  <a:pt x="7129740" y="4011765"/>
                  <a:pt x="7124399" y="3950551"/>
                </a:cubicBezTo>
                <a:cubicBezTo>
                  <a:pt x="7119058" y="3889338"/>
                  <a:pt x="7116388" y="3839423"/>
                  <a:pt x="7116388" y="3800805"/>
                </a:cubicBezTo>
                <a:cubicBezTo>
                  <a:pt x="7116388" y="3737537"/>
                  <a:pt x="7123166" y="3694195"/>
                  <a:pt x="7136724" y="3670778"/>
                </a:cubicBezTo>
                <a:cubicBezTo>
                  <a:pt x="7150281" y="3647361"/>
                  <a:pt x="7175547" y="3635652"/>
                  <a:pt x="7212521" y="3635652"/>
                </a:cubicBezTo>
                <a:cubicBezTo>
                  <a:pt x="7308656" y="3635652"/>
                  <a:pt x="7362885" y="3682076"/>
                  <a:pt x="7375210" y="3774923"/>
                </a:cubicBezTo>
                <a:cubicBezTo>
                  <a:pt x="7380961" y="3820114"/>
                  <a:pt x="7389177" y="3849899"/>
                  <a:pt x="7399859" y="3864278"/>
                </a:cubicBezTo>
                <a:cubicBezTo>
                  <a:pt x="7410541" y="3878657"/>
                  <a:pt x="7429849" y="3885846"/>
                  <a:pt x="7457786" y="3885846"/>
                </a:cubicBezTo>
                <a:cubicBezTo>
                  <a:pt x="7502977" y="3885846"/>
                  <a:pt x="7536665" y="3863251"/>
                  <a:pt x="7558849" y="3818060"/>
                </a:cubicBezTo>
                <a:cubicBezTo>
                  <a:pt x="7599110" y="3735072"/>
                  <a:pt x="7619241" y="3628668"/>
                  <a:pt x="7619241" y="3498847"/>
                </a:cubicBezTo>
                <a:cubicBezTo>
                  <a:pt x="7619241" y="3433114"/>
                  <a:pt x="7613284" y="3370052"/>
                  <a:pt x="7601370" y="3309660"/>
                </a:cubicBezTo>
                <a:cubicBezTo>
                  <a:pt x="7589456" y="3249269"/>
                  <a:pt x="7574871" y="3207159"/>
                  <a:pt x="7557617" y="3183331"/>
                </a:cubicBezTo>
                <a:cubicBezTo>
                  <a:pt x="7533789" y="3151286"/>
                  <a:pt x="7505031" y="3135264"/>
                  <a:pt x="7471343" y="3135264"/>
                </a:cubicBezTo>
                <a:cubicBezTo>
                  <a:pt x="7448337" y="3135264"/>
                  <a:pt x="7428206" y="3142659"/>
                  <a:pt x="7410951" y="3157449"/>
                </a:cubicBezTo>
                <a:cubicBezTo>
                  <a:pt x="7394518" y="3170595"/>
                  <a:pt x="7383221" y="3186001"/>
                  <a:pt x="7377058" y="3203667"/>
                </a:cubicBezTo>
                <a:cubicBezTo>
                  <a:pt x="7370896" y="3221332"/>
                  <a:pt x="7364939" y="3253993"/>
                  <a:pt x="7359187" y="3301649"/>
                </a:cubicBezTo>
                <a:cubicBezTo>
                  <a:pt x="7355079" y="3338624"/>
                  <a:pt x="7345219" y="3364300"/>
                  <a:pt x="7329608" y="3378679"/>
                </a:cubicBezTo>
                <a:cubicBezTo>
                  <a:pt x="7313996" y="3393058"/>
                  <a:pt x="7288936" y="3400248"/>
                  <a:pt x="7254426" y="3400248"/>
                </a:cubicBezTo>
                <a:cubicBezTo>
                  <a:pt x="7184585" y="3400248"/>
                  <a:pt x="7141448" y="3394291"/>
                  <a:pt x="7125016" y="3382377"/>
                </a:cubicBezTo>
                <a:cubicBezTo>
                  <a:pt x="7108582" y="3370463"/>
                  <a:pt x="7100365" y="3339856"/>
                  <a:pt x="7100365" y="3290557"/>
                </a:cubicBezTo>
                <a:cubicBezTo>
                  <a:pt x="7100365" y="3165665"/>
                  <a:pt x="7101393" y="3088019"/>
                  <a:pt x="7103447" y="3057618"/>
                </a:cubicBezTo>
                <a:cubicBezTo>
                  <a:pt x="7105501" y="3027216"/>
                  <a:pt x="7111869" y="3002978"/>
                  <a:pt x="7122551" y="2984901"/>
                </a:cubicBezTo>
                <a:cubicBezTo>
                  <a:pt x="7143092" y="2951213"/>
                  <a:pt x="7200607" y="2934369"/>
                  <a:pt x="7295098" y="2934369"/>
                </a:cubicBezTo>
                <a:cubicBezTo>
                  <a:pt x="7421633" y="2934369"/>
                  <a:pt x="7512631" y="2943613"/>
                  <a:pt x="7568093" y="2962100"/>
                </a:cubicBezTo>
                <a:cubicBezTo>
                  <a:pt x="7623554" y="2980587"/>
                  <a:pt x="7669362" y="3017357"/>
                  <a:pt x="7705514" y="3072407"/>
                </a:cubicBezTo>
                <a:cubicBezTo>
                  <a:pt x="7730986" y="3111025"/>
                  <a:pt x="7751322" y="3135880"/>
                  <a:pt x="7766522" y="3146973"/>
                </a:cubicBezTo>
                <a:cubicBezTo>
                  <a:pt x="7781723" y="3158065"/>
                  <a:pt x="7802881" y="3163611"/>
                  <a:pt x="7829995" y="3163611"/>
                </a:cubicBezTo>
                <a:cubicBezTo>
                  <a:pt x="7869435" y="3163611"/>
                  <a:pt x="7900453" y="3148205"/>
                  <a:pt x="7923048" y="3117393"/>
                </a:cubicBezTo>
                <a:cubicBezTo>
                  <a:pt x="7945643" y="3086581"/>
                  <a:pt x="7956941" y="3044471"/>
                  <a:pt x="7956941" y="2991063"/>
                </a:cubicBezTo>
                <a:cubicBezTo>
                  <a:pt x="7956941" y="2885070"/>
                  <a:pt x="7929826" y="2794688"/>
                  <a:pt x="7875597" y="2719917"/>
                </a:cubicBezTo>
                <a:cubicBezTo>
                  <a:pt x="7842731" y="2673905"/>
                  <a:pt x="7804935" y="2650898"/>
                  <a:pt x="7762209" y="2650898"/>
                </a:cubicBezTo>
                <a:close/>
                <a:moveTo>
                  <a:pt x="0" y="0"/>
                </a:moveTo>
                <a:lnTo>
                  <a:pt x="12449334" y="0"/>
                </a:lnTo>
                <a:lnTo>
                  <a:pt x="12449334" y="7029171"/>
                </a:lnTo>
                <a:lnTo>
                  <a:pt x="0" y="70291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992694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2655</Words>
  <Application>Microsoft Office PowerPoint</Application>
  <PresentationFormat>Widescreen</PresentationFormat>
  <Paragraphs>335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Bahnschrift Light Condensed</vt:lpstr>
      <vt:lpstr>Bahnschrift Light SemiCondensed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Jan_Ruth</dc:creator>
  <cp:lastModifiedBy>Jan_Ruth</cp:lastModifiedBy>
  <cp:revision>7</cp:revision>
  <dcterms:created xsi:type="dcterms:W3CDTF">2024-09-01T13:46:25Z</dcterms:created>
  <dcterms:modified xsi:type="dcterms:W3CDTF">2024-09-01T17:23:23Z</dcterms:modified>
</cp:coreProperties>
</file>